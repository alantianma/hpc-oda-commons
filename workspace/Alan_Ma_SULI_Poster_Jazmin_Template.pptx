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38404800" cy="38404800"/>
  <p:notesSz cx="6858000" cy="9144000"/>
  <p:defaultTextStyle>
    <a:defPPr>
      <a:defRPr lang="en-US"/>
    </a:defPPr>
    <a:lvl1pPr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1pPr>
    <a:lvl2pPr marL="457200"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2pPr>
    <a:lvl3pPr marL="914400"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3pPr>
    <a:lvl4pPr marL="1371600"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4pPr>
    <a:lvl5pPr marL="1828800" algn="r" rtl="0" eaLnBrk="0" fontAlgn="base" hangingPunct="0">
      <a:spcBef>
        <a:spcPct val="0"/>
      </a:spcBef>
      <a:spcAft>
        <a:spcPct val="0"/>
      </a:spcAft>
      <a:defRPr sz="2400" b="1" i="1" kern="1200">
        <a:solidFill>
          <a:schemeClr val="tx1"/>
        </a:solidFill>
        <a:latin typeface="Arial" charset="0"/>
        <a:ea typeface="ＭＳ Ｐゴシック" charset="-128"/>
        <a:cs typeface="+mn-cs"/>
      </a:defRPr>
    </a:lvl5pPr>
    <a:lvl6pPr marL="2286000" algn="l" defTabSz="914400" rtl="0" eaLnBrk="1" latinLnBrk="0" hangingPunct="1">
      <a:defRPr sz="2400" b="1" i="1" kern="1200">
        <a:solidFill>
          <a:schemeClr val="tx1"/>
        </a:solidFill>
        <a:latin typeface="Arial" charset="0"/>
        <a:ea typeface="ＭＳ Ｐゴシック" charset="-128"/>
        <a:cs typeface="+mn-cs"/>
      </a:defRPr>
    </a:lvl6pPr>
    <a:lvl7pPr marL="2743200" algn="l" defTabSz="914400" rtl="0" eaLnBrk="1" latinLnBrk="0" hangingPunct="1">
      <a:defRPr sz="2400" b="1" i="1" kern="1200">
        <a:solidFill>
          <a:schemeClr val="tx1"/>
        </a:solidFill>
        <a:latin typeface="Arial" charset="0"/>
        <a:ea typeface="ＭＳ Ｐゴシック" charset="-128"/>
        <a:cs typeface="+mn-cs"/>
      </a:defRPr>
    </a:lvl7pPr>
    <a:lvl8pPr marL="3200400" algn="l" defTabSz="914400" rtl="0" eaLnBrk="1" latinLnBrk="0" hangingPunct="1">
      <a:defRPr sz="2400" b="1" i="1" kern="1200">
        <a:solidFill>
          <a:schemeClr val="tx1"/>
        </a:solidFill>
        <a:latin typeface="Arial" charset="0"/>
        <a:ea typeface="ＭＳ Ｐゴシック" charset="-128"/>
        <a:cs typeface="+mn-cs"/>
      </a:defRPr>
    </a:lvl8pPr>
    <a:lvl9pPr marL="3657600" algn="l" defTabSz="914400" rtl="0" eaLnBrk="1" latinLnBrk="0" hangingPunct="1">
      <a:defRPr sz="2400" b="1" 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5760">
          <p15:clr>
            <a:srgbClr val="A4A3A4"/>
          </p15:clr>
        </p15:guide>
        <p15:guide id="2" orient="horz" pos="816">
          <p15:clr>
            <a:srgbClr val="A4A3A4"/>
          </p15:clr>
        </p15:guide>
        <p15:guide id="3" orient="horz" pos="25919">
          <p15:clr>
            <a:srgbClr val="A4A3A4"/>
          </p15:clr>
        </p15:guide>
        <p15:guide id="4" orient="horz" pos="-1152">
          <p15:clr>
            <a:srgbClr val="A4A3A4"/>
          </p15:clr>
        </p15:guide>
        <p15:guide id="5" orient="horz" pos="9216">
          <p15:clr>
            <a:srgbClr val="A4A3A4"/>
          </p15:clr>
        </p15:guide>
        <p15:guide id="6" orient="horz" pos="19584">
          <p15:clr>
            <a:srgbClr val="A4A3A4"/>
          </p15:clr>
        </p15:guide>
        <p15:guide id="7" orient="horz" pos="12672">
          <p15:clr>
            <a:srgbClr val="A4A3A4"/>
          </p15:clr>
        </p15:guide>
        <p15:guide id="8" orient="horz" pos="25584">
          <p15:clr>
            <a:srgbClr val="A4A3A4"/>
          </p15:clr>
        </p15:guide>
        <p15:guide id="9" pos="12096">
          <p15:clr>
            <a:srgbClr val="A4A3A4"/>
          </p15:clr>
        </p15:guide>
        <p15:guide id="10" pos="7872">
          <p15:clr>
            <a:srgbClr val="A4A3A4"/>
          </p15:clr>
        </p15:guide>
        <p15:guide id="11" pos="16320">
          <p15:clr>
            <a:srgbClr val="A4A3A4"/>
          </p15:clr>
        </p15:guide>
        <p15:guide id="12" pos="576">
          <p15:clr>
            <a:srgbClr val="A4A3A4"/>
          </p15:clr>
        </p15:guide>
        <p15:guide id="13" pos="23616">
          <p15:clr>
            <a:srgbClr val="A4A3A4"/>
          </p15:clr>
        </p15:guide>
        <p15:guide id="14" pos="24432">
          <p15:clr>
            <a:srgbClr val="A4A3A4"/>
          </p15:clr>
        </p15:guide>
        <p15:guide id="15" pos="8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61C2"/>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914625-03A4-51BA-12C1-F94F02818BF1}" v="2528" dt="2025-08-05T16:03:30.279"/>
    <p1510:client id="{6CAC2814-F852-F241-B37D-A6AB2C1B0B93}" v="155" dt="2025-08-05T18:18:02.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9906"/>
    <p:restoredTop sz="94589"/>
  </p:normalViewPr>
  <p:slideViewPr>
    <p:cSldViewPr snapToGrid="0">
      <p:cViewPr varScale="1">
        <p:scale>
          <a:sx n="21" d="100"/>
          <a:sy n="21" d="100"/>
        </p:scale>
        <p:origin x="3856" y="240"/>
      </p:cViewPr>
      <p:guideLst>
        <p:guide orient="horz" pos="5760"/>
        <p:guide orient="horz" pos="816"/>
        <p:guide orient="horz" pos="25919"/>
        <p:guide orient="horz" pos="-1152"/>
        <p:guide orient="horz" pos="9216"/>
        <p:guide orient="horz" pos="19584"/>
        <p:guide orient="horz" pos="12672"/>
        <p:guide orient="horz" pos="25584"/>
        <p:guide pos="12096"/>
        <p:guide pos="7872"/>
        <p:guide pos="16320"/>
        <p:guide pos="576"/>
        <p:guide pos="23616"/>
        <p:guide pos="24432"/>
        <p:guide pos="8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D27E12-2199-B943-8A6E-F8C5FCA8ABA9}" type="datetimeFigureOut">
              <a:rPr lang="en-US" smtClean="0"/>
              <a:t>8/13/26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4637C0-F00D-1241-AF00-5EC6C0957BEC}" type="slidenum">
              <a:rPr lang="en-US" smtClean="0"/>
              <a:t>‹#›</a:t>
            </a:fld>
            <a:endParaRPr lang="en-US"/>
          </a:p>
        </p:txBody>
      </p:sp>
    </p:spTree>
    <p:extLst>
      <p:ext uri="{BB962C8B-B14F-4D97-AF65-F5344CB8AC3E}">
        <p14:creationId xmlns:p14="http://schemas.microsoft.com/office/powerpoint/2010/main" val="4076653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4637C0-F00D-1241-AF00-5EC6C0957BEC}" type="slidenum">
              <a:rPr lang="en-US" smtClean="0"/>
              <a:t>1</a:t>
            </a:fld>
            <a:endParaRPr lang="en-US"/>
          </a:p>
        </p:txBody>
      </p:sp>
    </p:spTree>
    <p:extLst>
      <p:ext uri="{BB962C8B-B14F-4D97-AF65-F5344CB8AC3E}">
        <p14:creationId xmlns:p14="http://schemas.microsoft.com/office/powerpoint/2010/main" val="3692123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79725" y="11930659"/>
            <a:ext cx="32645350" cy="8231584"/>
          </a:xfrm>
        </p:spPr>
        <p:txBody>
          <a:bodyPr/>
          <a:lstStyle/>
          <a:p>
            <a:r>
              <a:rPr lang="en-US"/>
              <a:t>Click to edit Master title style</a:t>
            </a:r>
          </a:p>
        </p:txBody>
      </p:sp>
      <p:sp>
        <p:nvSpPr>
          <p:cNvPr id="3" name="Subtitle 2"/>
          <p:cNvSpPr>
            <a:spLocks noGrp="1"/>
          </p:cNvSpPr>
          <p:nvPr>
            <p:ph type="subTitle" idx="1"/>
          </p:nvPr>
        </p:nvSpPr>
        <p:spPr>
          <a:xfrm>
            <a:off x="5761039" y="21762443"/>
            <a:ext cx="26882725" cy="9815116"/>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459F6BE-2D59-4E3B-BB76-EAFD62AA1341}"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6BFB4F06-774E-4B78-8FBE-A1C4D285F5D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33713" y="24678085"/>
            <a:ext cx="32643762" cy="7628731"/>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033713" y="16277034"/>
            <a:ext cx="32643762" cy="84010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01DD889C-834B-4B4A-B92D-A1FA3C74739A}"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881314" y="11094443"/>
            <a:ext cx="16244887" cy="2304315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278600" y="11094443"/>
            <a:ext cx="16244888" cy="2304315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8A5818EB-35A7-4398-A57E-E9550617905D}"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20875" y="1537693"/>
            <a:ext cx="34563050" cy="64008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920875" y="8596908"/>
            <a:ext cx="16968788" cy="35823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875" y="12179300"/>
            <a:ext cx="16968788" cy="221277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508789" y="8596908"/>
            <a:ext cx="16975137" cy="358239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9508789" y="12179300"/>
            <a:ext cx="16975137" cy="221277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FFCDBE19-F304-4224-921B-37310AC00CF9}"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E77E7003-466B-4C38-9A85-85DACFB069D1}"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46344017-61B7-466C-A617-353B049C48AB}"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875" y="1529359"/>
            <a:ext cx="12634913" cy="6507757"/>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5014575" y="1529359"/>
            <a:ext cx="21469350" cy="3277770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20875" y="8037116"/>
            <a:ext cx="12634913" cy="262699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877533B8-D237-41AD-A46E-C5A010449029}"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27926" y="26883916"/>
            <a:ext cx="23042563" cy="317261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7527926" y="3430985"/>
            <a:ext cx="23042563" cy="2304315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7527926" y="30056535"/>
            <a:ext cx="23042563" cy="450750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95084FFA-586D-43FE-B326-3C3349DD336C}"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5E6EC436-C759-472B-9919-54C44E33CA9F}"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363738" y="3414316"/>
            <a:ext cx="8159750" cy="3072328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881314" y="3414316"/>
            <a:ext cx="24330025" cy="307232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87F85A35-6464-40E6-9921-3689848822B4}"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881313" y="3414713"/>
            <a:ext cx="32642175" cy="6400800"/>
          </a:xfrm>
          <a:prstGeom prst="rect">
            <a:avLst/>
          </a:prstGeom>
          <a:noFill/>
          <a:ln w="9525">
            <a:noFill/>
            <a:miter lim="800000"/>
            <a:headEnd/>
            <a:tailEnd/>
          </a:ln>
        </p:spPr>
        <p:txBody>
          <a:bodyPr vert="horz" wrap="square" lIns="501612" tIns="250806" rIns="501612" bIns="250806"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881313" y="11095038"/>
            <a:ext cx="32642175" cy="23042562"/>
          </a:xfrm>
          <a:prstGeom prst="rect">
            <a:avLst/>
          </a:prstGeom>
          <a:noFill/>
          <a:ln w="9525">
            <a:noFill/>
            <a:miter lim="800000"/>
            <a:headEnd/>
            <a:tailEnd/>
          </a:ln>
        </p:spPr>
        <p:txBody>
          <a:bodyPr vert="horz" wrap="square" lIns="501612" tIns="250806" rIns="501612" bIns="25080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881313" y="34990088"/>
            <a:ext cx="8001000" cy="2562225"/>
          </a:xfrm>
          <a:prstGeom prst="rect">
            <a:avLst/>
          </a:prstGeom>
          <a:noFill/>
          <a:ln w="9525">
            <a:noFill/>
            <a:miter lim="800000"/>
            <a:headEnd/>
            <a:tailEnd/>
          </a:ln>
        </p:spPr>
        <p:txBody>
          <a:bodyPr vert="horz" wrap="square" lIns="501612" tIns="250806" rIns="501612" bIns="250806" numCol="1" anchor="t" anchorCtr="0" compatLnSpc="1">
            <a:prstTxWarp prst="textNoShape">
              <a:avLst/>
            </a:prstTxWarp>
          </a:bodyPr>
          <a:lstStyle>
            <a:lvl1pPr algn="l">
              <a:defRPr sz="7700" b="0" i="0"/>
            </a:lvl1pPr>
          </a:lstStyle>
          <a:p>
            <a:endParaRPr lang="en-US"/>
          </a:p>
        </p:txBody>
      </p:sp>
      <p:sp>
        <p:nvSpPr>
          <p:cNvPr id="1029" name="Rectangle 5"/>
          <p:cNvSpPr>
            <a:spLocks noGrp="1" noChangeArrowheads="1"/>
          </p:cNvSpPr>
          <p:nvPr>
            <p:ph type="ftr" sz="quarter" idx="3"/>
          </p:nvPr>
        </p:nvSpPr>
        <p:spPr bwMode="auto">
          <a:xfrm>
            <a:off x="13120688" y="34990088"/>
            <a:ext cx="12163425" cy="2562225"/>
          </a:xfrm>
          <a:prstGeom prst="rect">
            <a:avLst/>
          </a:prstGeom>
          <a:noFill/>
          <a:ln w="9525">
            <a:noFill/>
            <a:miter lim="800000"/>
            <a:headEnd/>
            <a:tailEnd/>
          </a:ln>
        </p:spPr>
        <p:txBody>
          <a:bodyPr vert="horz" wrap="square" lIns="501612" tIns="250806" rIns="501612" bIns="250806" numCol="1" anchor="t" anchorCtr="0" compatLnSpc="1">
            <a:prstTxWarp prst="textNoShape">
              <a:avLst/>
            </a:prstTxWarp>
          </a:bodyPr>
          <a:lstStyle>
            <a:lvl1pPr algn="ctr">
              <a:defRPr sz="7700" b="0" i="0"/>
            </a:lvl1pPr>
          </a:lstStyle>
          <a:p>
            <a:endParaRPr lang="en-US"/>
          </a:p>
        </p:txBody>
      </p:sp>
      <p:sp>
        <p:nvSpPr>
          <p:cNvPr id="1030" name="Rectangle 6"/>
          <p:cNvSpPr>
            <a:spLocks noGrp="1" noChangeArrowheads="1"/>
          </p:cNvSpPr>
          <p:nvPr>
            <p:ph type="sldNum" sz="quarter" idx="4"/>
          </p:nvPr>
        </p:nvSpPr>
        <p:spPr bwMode="auto">
          <a:xfrm>
            <a:off x="27522488" y="34990088"/>
            <a:ext cx="8001000" cy="2562225"/>
          </a:xfrm>
          <a:prstGeom prst="rect">
            <a:avLst/>
          </a:prstGeom>
          <a:noFill/>
          <a:ln w="9525">
            <a:noFill/>
            <a:miter lim="800000"/>
            <a:headEnd/>
            <a:tailEnd/>
          </a:ln>
        </p:spPr>
        <p:txBody>
          <a:bodyPr vert="horz" wrap="square" lIns="501612" tIns="250806" rIns="501612" bIns="250806" numCol="1" anchor="t" anchorCtr="0" compatLnSpc="1">
            <a:prstTxWarp prst="textNoShape">
              <a:avLst/>
            </a:prstTxWarp>
          </a:bodyPr>
          <a:lstStyle>
            <a:lvl1pPr>
              <a:defRPr sz="7700" b="0" i="0"/>
            </a:lvl1pPr>
          </a:lstStyle>
          <a:p>
            <a:fld id="{D612CE57-CB3D-4A48-9A26-3326A2B69941}"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5016500" rtl="0" eaLnBrk="0" fontAlgn="base" hangingPunct="0">
        <a:spcBef>
          <a:spcPct val="0"/>
        </a:spcBef>
        <a:spcAft>
          <a:spcPct val="0"/>
        </a:spcAft>
        <a:defRPr sz="24100">
          <a:solidFill>
            <a:schemeClr val="tx2"/>
          </a:solidFill>
          <a:latin typeface="+mj-lt"/>
          <a:ea typeface="+mj-ea"/>
          <a:cs typeface="+mj-cs"/>
        </a:defRPr>
      </a:lvl1pPr>
      <a:lvl2pPr algn="ctr" defTabSz="5016500" rtl="0" eaLnBrk="0" fontAlgn="base" hangingPunct="0">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2pPr>
      <a:lvl3pPr algn="ctr" defTabSz="5016500" rtl="0" eaLnBrk="0" fontAlgn="base" hangingPunct="0">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3pPr>
      <a:lvl4pPr algn="ctr" defTabSz="5016500" rtl="0" eaLnBrk="0" fontAlgn="base" hangingPunct="0">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4pPr>
      <a:lvl5pPr algn="ctr" defTabSz="5016500" rtl="0" eaLnBrk="0" fontAlgn="base" hangingPunct="0">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5pPr>
      <a:lvl6pPr marL="457200" algn="ctr" defTabSz="5016500" rtl="0" fontAlgn="base">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6pPr>
      <a:lvl7pPr marL="914400" algn="ctr" defTabSz="5016500" rtl="0" fontAlgn="base">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7pPr>
      <a:lvl8pPr marL="1371600" algn="ctr" defTabSz="5016500" rtl="0" fontAlgn="base">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8pPr>
      <a:lvl9pPr marL="1828800" algn="ctr" defTabSz="5016500" rtl="0" fontAlgn="base">
        <a:spcBef>
          <a:spcPct val="0"/>
        </a:spcBef>
        <a:spcAft>
          <a:spcPct val="0"/>
        </a:spcAft>
        <a:defRPr sz="24100">
          <a:solidFill>
            <a:schemeClr val="tx2"/>
          </a:solidFill>
          <a:latin typeface="Arial" pitchFamily="-106" charset="0"/>
          <a:ea typeface="ＭＳ Ｐゴシック" pitchFamily="-106" charset="-128"/>
          <a:cs typeface="ＭＳ Ｐゴシック" pitchFamily="-106" charset="-128"/>
        </a:defRPr>
      </a:lvl9pPr>
    </p:titleStyle>
    <p:bodyStyle>
      <a:lvl1pPr marL="1881188" indent="-1881188" algn="l" defTabSz="5016500" rtl="0" eaLnBrk="0" fontAlgn="base" hangingPunct="0">
        <a:spcBef>
          <a:spcPct val="20000"/>
        </a:spcBef>
        <a:spcAft>
          <a:spcPct val="0"/>
        </a:spcAft>
        <a:buChar char="•"/>
        <a:defRPr sz="17600">
          <a:solidFill>
            <a:schemeClr val="tx1"/>
          </a:solidFill>
          <a:latin typeface="+mn-lt"/>
          <a:ea typeface="+mn-ea"/>
          <a:cs typeface="+mn-cs"/>
        </a:defRPr>
      </a:lvl1pPr>
      <a:lvl2pPr marL="4075113" indent="-1566863" algn="l" defTabSz="5016500" rtl="0" eaLnBrk="0" fontAlgn="base" hangingPunct="0">
        <a:spcBef>
          <a:spcPct val="20000"/>
        </a:spcBef>
        <a:spcAft>
          <a:spcPct val="0"/>
        </a:spcAft>
        <a:buChar char="–"/>
        <a:defRPr sz="15400">
          <a:solidFill>
            <a:schemeClr val="tx1"/>
          </a:solidFill>
          <a:latin typeface="+mn-lt"/>
          <a:ea typeface="+mn-ea"/>
        </a:defRPr>
      </a:lvl2pPr>
      <a:lvl3pPr marL="6270625" indent="-1254125" algn="l" defTabSz="5016500" rtl="0" eaLnBrk="0" fontAlgn="base" hangingPunct="0">
        <a:spcBef>
          <a:spcPct val="20000"/>
        </a:spcBef>
        <a:spcAft>
          <a:spcPct val="0"/>
        </a:spcAft>
        <a:buChar char="•"/>
        <a:defRPr sz="13200">
          <a:solidFill>
            <a:schemeClr val="tx1"/>
          </a:solidFill>
          <a:latin typeface="+mn-lt"/>
          <a:ea typeface="+mn-ea"/>
        </a:defRPr>
      </a:lvl3pPr>
      <a:lvl4pPr marL="8778875" indent="-1254125" algn="l" defTabSz="5016500" rtl="0" eaLnBrk="0" fontAlgn="base" hangingPunct="0">
        <a:spcBef>
          <a:spcPct val="20000"/>
        </a:spcBef>
        <a:spcAft>
          <a:spcPct val="0"/>
        </a:spcAft>
        <a:buChar char="–"/>
        <a:defRPr sz="11000">
          <a:solidFill>
            <a:schemeClr val="tx1"/>
          </a:solidFill>
          <a:latin typeface="+mn-lt"/>
          <a:ea typeface="+mn-ea"/>
        </a:defRPr>
      </a:lvl4pPr>
      <a:lvl5pPr marL="11285538" indent="-1252538" algn="l" defTabSz="5016500" rtl="0" eaLnBrk="0" fontAlgn="base" hangingPunct="0">
        <a:spcBef>
          <a:spcPct val="20000"/>
        </a:spcBef>
        <a:spcAft>
          <a:spcPct val="0"/>
        </a:spcAft>
        <a:buChar char="»"/>
        <a:defRPr sz="11000">
          <a:solidFill>
            <a:schemeClr val="tx1"/>
          </a:solidFill>
          <a:latin typeface="+mn-lt"/>
          <a:ea typeface="+mn-ea"/>
        </a:defRPr>
      </a:lvl5pPr>
      <a:lvl6pPr marL="11742738" indent="-1252538" algn="l" defTabSz="5016500" rtl="0" fontAlgn="base">
        <a:spcBef>
          <a:spcPct val="20000"/>
        </a:spcBef>
        <a:spcAft>
          <a:spcPct val="0"/>
        </a:spcAft>
        <a:buChar char="»"/>
        <a:defRPr sz="11000">
          <a:solidFill>
            <a:schemeClr val="tx1"/>
          </a:solidFill>
          <a:latin typeface="+mn-lt"/>
          <a:ea typeface="+mn-ea"/>
        </a:defRPr>
      </a:lvl6pPr>
      <a:lvl7pPr marL="12199938" indent="-1252538" algn="l" defTabSz="5016500" rtl="0" fontAlgn="base">
        <a:spcBef>
          <a:spcPct val="20000"/>
        </a:spcBef>
        <a:spcAft>
          <a:spcPct val="0"/>
        </a:spcAft>
        <a:buChar char="»"/>
        <a:defRPr sz="11000">
          <a:solidFill>
            <a:schemeClr val="tx1"/>
          </a:solidFill>
          <a:latin typeface="+mn-lt"/>
          <a:ea typeface="+mn-ea"/>
        </a:defRPr>
      </a:lvl7pPr>
      <a:lvl8pPr marL="12657138" indent="-1252538" algn="l" defTabSz="5016500" rtl="0" fontAlgn="base">
        <a:spcBef>
          <a:spcPct val="20000"/>
        </a:spcBef>
        <a:spcAft>
          <a:spcPct val="0"/>
        </a:spcAft>
        <a:buChar char="»"/>
        <a:defRPr sz="11000">
          <a:solidFill>
            <a:schemeClr val="tx1"/>
          </a:solidFill>
          <a:latin typeface="+mn-lt"/>
          <a:ea typeface="+mn-ea"/>
        </a:defRPr>
      </a:lvl8pPr>
      <a:lvl9pPr marL="13114338" indent="-1252538" algn="l" defTabSz="5016500" rtl="0" fontAlgn="base">
        <a:spcBef>
          <a:spcPct val="20000"/>
        </a:spcBef>
        <a:spcAft>
          <a:spcPct val="0"/>
        </a:spcAft>
        <a:buChar char="»"/>
        <a:defRPr sz="11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png"/><Relationship Id="rId5" Type="http://schemas.openxmlformats.org/officeDocument/2006/relationships/image" Target="../media/image3.png"/><Relationship Id="rId6" Type="http://schemas.microsoft.com/office/2007/relationships/hdphoto" Target="../media/hdphoto1.wdp"/><Relationship Id="rId7" Type="http://schemas.openxmlformats.org/officeDocument/2006/relationships/image" Target="../media/image4.jpe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image" Target="../media/image11.png"/><Relationship Id="rId15" Type="http://schemas.openxmlformats.org/officeDocument/2006/relationships/image" Target="../media/image12.png"/><Relationship Id="rId16" Type="http://schemas.openxmlformats.org/officeDocument/2006/relationships/image" Target="../media/image13.png"/><Relationship Id="rId17" Type="http://schemas.openxmlformats.org/officeDocument/2006/relationships/image" Target="../media/image14.png"/><Relationship Id="rId18" Type="http://schemas.openxmlformats.org/officeDocument/2006/relationships/image" Target="../media/image15.png"/><Relationship Id="rId19" Type="http://schemas.openxmlformats.org/officeDocument/2006/relationships/image" Target="../media/image16.png"/><Relationship Id="rId20" Type="http://schemas.openxmlformats.org/officeDocument/2006/relationships/image" Target="../media/image17.png"/><Relationship Id="rId21" Type="http://schemas.openxmlformats.org/officeDocument/2006/relationships/image" Target="../media/image18.png"/><Relationship Id="rId22" Type="http://schemas.openxmlformats.org/officeDocument/2006/relationships/image" Target="../media/image19.png"/><Relationship Id="rId23" Type="http://schemas.openxmlformats.org/officeDocument/2006/relationships/image" Target="../media/image20.png"/><Relationship Id="rId24" Type="http://schemas.openxmlformats.org/officeDocument/2006/relationships/image" Target="../media/image21.png"/><Relationship Id="rId25" Type="http://schemas.openxmlformats.org/officeDocument/2006/relationships/image" Target="../media/image22.png"/><Relationship Id="rId26" Type="http://schemas.openxmlformats.org/officeDocument/2006/relationships/image" Target="../media/image23.png"/><Relationship Id="rId27" Type="http://schemas.openxmlformats.org/officeDocument/2006/relationships/image" Target="../media/image24.png"/><Relationship Id="rId28" Type="http://schemas.openxmlformats.org/officeDocument/2006/relationships/image" Target="../media/image25.png"/><Relationship Id="rId29" Type="http://schemas.openxmlformats.org/officeDocument/2006/relationships/image" Target="../media/image26.png"/><Relationship Id="rId30"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78B92C-9270-D505-C8E5-740D217D6F96}"/>
              </a:ext>
            </a:extLst>
          </p:cNvPr>
          <p:cNvSpPr/>
          <p:nvPr/>
        </p:nvSpPr>
        <p:spPr bwMode="auto">
          <a:xfrm>
            <a:off x="0" y="0"/>
            <a:ext cx="38404800" cy="4617515"/>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cxnSp>
        <p:nvCxnSpPr>
          <p:cNvPr id="30" name="Straight Connector 14"/>
          <p:cNvCxnSpPr>
            <a:cxnSpLocks noChangeShapeType="1"/>
          </p:cNvCxnSpPr>
          <p:nvPr/>
        </p:nvCxnSpPr>
        <p:spPr bwMode="auto">
          <a:xfrm flipV="1">
            <a:off x="533400" y="36336228"/>
            <a:ext cx="37414200" cy="56688"/>
          </a:xfrm>
          <a:prstGeom prst="line">
            <a:avLst/>
          </a:prstGeom>
          <a:noFill/>
          <a:ln w="76200" cmpd="sng">
            <a:solidFill>
              <a:schemeClr val="tx1"/>
            </a:solidFill>
            <a:round/>
            <a:headEnd/>
            <a:tailEnd/>
          </a:ln>
        </p:spPr>
      </p:cxnSp>
      <p:sp>
        <p:nvSpPr>
          <p:cNvPr id="43" name="TextBox 42"/>
          <p:cNvSpPr txBox="1"/>
          <p:nvPr/>
        </p:nvSpPr>
        <p:spPr>
          <a:xfrm>
            <a:off x="7601385" y="136823"/>
            <a:ext cx="27736800" cy="2708434"/>
          </a:xfrm>
          <a:prstGeom prst="rect">
            <a:avLst/>
          </a:prstGeom>
          <a:noFill/>
        </p:spPr>
        <p:txBody>
          <a:bodyPr wrap="square" lIns="914400" rtlCol="0">
            <a:spAutoFit/>
          </a:bodyPr>
          <a:lstStyle/>
          <a:p>
            <a:r>
              <a:rPr sz="4800" b="1"/>
              <a:t>MoE Wallclock Routing &amp; Time Decay for Job Runtime Prediction</a:t>
            </a:r>
          </a:p>
        </p:txBody>
      </p:sp>
      <p:sp>
        <p:nvSpPr>
          <p:cNvPr id="44" name="Text Box 14"/>
          <p:cNvSpPr txBox="1">
            <a:spLocks noChangeArrowheads="1"/>
          </p:cNvSpPr>
          <p:nvPr/>
        </p:nvSpPr>
        <p:spPr bwMode="auto">
          <a:xfrm>
            <a:off x="9448800" y="3037276"/>
            <a:ext cx="27965400" cy="1263808"/>
          </a:xfrm>
          <a:prstGeom prst="rect">
            <a:avLst/>
          </a:prstGeom>
          <a:noFill/>
          <a:ln w="9525">
            <a:noFill/>
            <a:miter lim="800000"/>
            <a:headEnd/>
            <a:tailEnd/>
          </a:ln>
        </p:spPr>
        <p:txBody>
          <a:bodyPr wrap="square" lIns="91440" tIns="45720" rIns="91440" bIns="45720" anchor="ctr">
            <a:spAutoFit/>
          </a:bodyPr>
          <a:lstStyle/>
          <a:p>
            <a:r>
              <a:rPr sz="2800"/>
              <a:t>Alan Ma¹, Kevin Menear¹, Dmitry Duplyakin¹</a:t>
            </a:r>
          </a:p>
          <a:p>
            <a:r>
              <a:rPr sz="2800"/>
              <a:t>¹National Renewable Energy Laboratory &amp; NatLabRockies</a:t>
            </a:r>
          </a:p>
        </p:txBody>
      </p:sp>
      <p:sp>
        <p:nvSpPr>
          <p:cNvPr id="19" name="TextBox 18">
            <a:extLst>
              <a:ext uri="{FF2B5EF4-FFF2-40B4-BE49-F238E27FC236}">
                <a16:creationId xmlns:a16="http://schemas.microsoft.com/office/drawing/2014/main" id="{6B7B3EB5-D053-5345-BB86-35283F76AA6F}"/>
              </a:ext>
            </a:extLst>
          </p:cNvPr>
          <p:cNvSpPr txBox="1"/>
          <p:nvPr/>
        </p:nvSpPr>
        <p:spPr>
          <a:xfrm>
            <a:off x="758300" y="36628546"/>
            <a:ext cx="24844900" cy="1395254"/>
          </a:xfrm>
          <a:prstGeom prst="rect">
            <a:avLst/>
          </a:prstGeom>
          <a:noFill/>
        </p:spPr>
        <p:txBody>
          <a:bodyPr wrap="square" rtlCol="0">
            <a:spAutoFit/>
          </a:bodyPr>
          <a:lstStyle/>
          <a:p>
            <a:pPr algn="l">
              <a:lnSpc>
                <a:spcPts val="2600"/>
              </a:lnSpc>
            </a:pPr>
            <a:r>
              <a:rPr lang="en-US" sz="1800">
                <a:solidFill>
                  <a:schemeClr val="tx2">
                    <a:lumMod val="75000"/>
                  </a:schemeClr>
                </a:solidFill>
              </a:rPr>
              <a:t>This work was authored </a:t>
            </a:r>
            <a:r>
              <a:rPr lang="en-US" sz="1800">
                <a:solidFill>
                  <a:srgbClr val="FF0000"/>
                </a:solidFill>
              </a:rPr>
              <a:t>[in part] </a:t>
            </a:r>
            <a:r>
              <a:rPr lang="en-US" sz="1800">
                <a:solidFill>
                  <a:schemeClr val="tx2">
                    <a:lumMod val="75000"/>
                  </a:schemeClr>
                </a:solidFill>
              </a:rPr>
              <a:t>by the National Renewable Energy Laboratory, operated by Alliance for Sustainable Energy, LLC, for the U.S. Department of Energy (DOE) under Contract No. DE-AC36-08GO28308. Funding provided by </a:t>
            </a:r>
            <a:r>
              <a:rPr lang="en-US" sz="1800">
                <a:solidFill>
                  <a:srgbClr val="FF0000"/>
                </a:solidFill>
              </a:rPr>
              <a:t>[applicable Department of Energy office and program office, e.g., U.S. Department of Energy Office of Energy Efficiency and Renewable Energy Solar Energy Technologies Office (spell out full office names; do not use initialisms/acronyms)]. </a:t>
            </a:r>
            <a:r>
              <a:rPr lang="en-US" sz="1800">
                <a:solidFill>
                  <a:schemeClr val="tx2">
                    <a:lumMod val="75000"/>
                  </a:schemeClr>
                </a:solidFill>
              </a:rPr>
              <a:t>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p>
        </p:txBody>
      </p:sp>
      <p:pic>
        <p:nvPicPr>
          <p:cNvPr id="3" name="Picture 2">
            <a:extLst>
              <a:ext uri="{FF2B5EF4-FFF2-40B4-BE49-F238E27FC236}">
                <a16:creationId xmlns:a16="http://schemas.microsoft.com/office/drawing/2014/main" id="{3BD1C66C-30B6-87FC-DF2F-FCF98C32C394}"/>
              </a:ext>
            </a:extLst>
          </p:cNvPr>
          <p:cNvPicPr>
            <a:picLocks noChangeAspect="1"/>
          </p:cNvPicPr>
          <p:nvPr/>
        </p:nvPicPr>
        <p:blipFill>
          <a:blip r:embed="rId4"/>
          <a:stretch>
            <a:fillRect/>
          </a:stretch>
        </p:blipFill>
        <p:spPr>
          <a:xfrm>
            <a:off x="990600" y="2513481"/>
            <a:ext cx="5200650" cy="872966"/>
          </a:xfrm>
          <a:prstGeom prst="rect">
            <a:avLst/>
          </a:prstGeom>
        </p:spPr>
      </p:pic>
      <p:pic>
        <p:nvPicPr>
          <p:cNvPr id="41" name="Picture 40" descr="A blue and yellow logo&#10;&#10;AI-generated content may be incorrect.">
            <a:extLst>
              <a:ext uri="{FF2B5EF4-FFF2-40B4-BE49-F238E27FC236}">
                <a16:creationId xmlns:a16="http://schemas.microsoft.com/office/drawing/2014/main" id="{3E284808-82FE-291D-D58D-C091DBA33E77}"/>
              </a:ext>
            </a:extLst>
          </p:cNvPr>
          <p:cNvPicPr>
            <a:picLocks noChangeAspect="1"/>
          </p:cNvPicPr>
          <p:nvPr/>
        </p:nvPicPr>
        <p:blipFill>
          <a:blip r:embed="rId5">
            <a:alphaModFix/>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35526708" y="147446"/>
            <a:ext cx="2116093" cy="2482882"/>
          </a:xfrm>
          <a:prstGeom prst="rect">
            <a:avLst/>
          </a:prstGeom>
        </p:spPr>
      </p:pic>
      <p:sp>
        <p:nvSpPr>
          <p:cNvPr id="45" name="TextBox 44">
            <a:extLst>
              <a:ext uri="{FF2B5EF4-FFF2-40B4-BE49-F238E27FC236}">
                <a16:creationId xmlns:a16="http://schemas.microsoft.com/office/drawing/2014/main" id="{EA8DAB90-5EB0-82D5-DE45-94F219962973}"/>
              </a:ext>
            </a:extLst>
          </p:cNvPr>
          <p:cNvSpPr txBox="1"/>
          <p:nvPr/>
        </p:nvSpPr>
        <p:spPr>
          <a:xfrm>
            <a:off x="1157815" y="20722262"/>
            <a:ext cx="10284124" cy="15788938"/>
          </a:xfrm>
          <a:prstGeom prst="rect">
            <a:avLst/>
          </a:prstGeom>
          <a:noFill/>
        </p:spPr>
        <p:txBody>
          <a:bodyPr wrap="square" lIns="91440" tIns="45720" rIns="91440" bIns="45720" rtlCol="0" anchor="t">
            <a:spAutoFit/>
          </a:bodyPr>
          <a:lstStyle/>
          <a:p>
            <a:r>
              <a:rPr sz="1800"/>
              <a:t>• Analyzed Kestrel/Eagle wallclock requests</a:t>
            </a:r>
          </a:p>
          <a:p>
            <a:r>
              <a:rPr sz="1800"/>
              <a:t>• Built Mixture-of-Experts (MoE) classifier</a:t>
            </a:r>
          </a:p>
          <a:p>
            <a:r>
              <a:rPr sz="1800"/>
              <a:t>• Routed by requested partition limits</a:t>
            </a:r>
          </a:p>
          <a:p>
            <a:r>
              <a:rPr sz="1800"/>
              <a:t>• Applied 0.05 time-decay (2-week half-life)</a:t>
            </a:r>
          </a:p>
        </p:txBody>
      </p:sp>
      <p:sp>
        <p:nvSpPr>
          <p:cNvPr id="6" name="TextBox 5">
            <a:extLst>
              <a:ext uri="{FF2B5EF4-FFF2-40B4-BE49-F238E27FC236}">
                <a16:creationId xmlns:a16="http://schemas.microsoft.com/office/drawing/2014/main" id="{BCBC7464-B5EB-B7A1-1F02-AC95166B2638}"/>
              </a:ext>
            </a:extLst>
          </p:cNvPr>
          <p:cNvSpPr txBox="1"/>
          <p:nvPr/>
        </p:nvSpPr>
        <p:spPr>
          <a:xfrm>
            <a:off x="13059980" y="22335878"/>
            <a:ext cx="11658600" cy="584775"/>
          </a:xfrm>
          <a:prstGeom prst="rect">
            <a:avLst/>
          </a:prstGeom>
          <a:noFill/>
        </p:spPr>
        <p:txBody>
          <a:bodyPr wrap="square" rtlCol="0">
            <a:spAutoFit/>
          </a:bodyPr>
          <a:lstStyle/>
          <a:p>
            <a:r>
              <a:rPr sz="1800"/>
              <a:t>• 54% Kestrel jobs request exactly 2h</a:t>
            </a:r>
          </a:p>
          <a:p>
            <a:r>
              <a:rPr sz="1800"/>
              <a:t>• 47x actual runtime difference across bins</a:t>
            </a:r>
          </a:p>
          <a:p>
            <a:r>
              <a:rPr sz="1800"/>
              <a:t>• ~40% Coefficient of Variation reduction</a:t>
            </a:r>
          </a:p>
          <a:p>
            <a:r>
              <a:rPr sz="1800"/>
              <a:t>• MoE + decay yields ~6% MAE improvement</a:t>
            </a:r>
          </a:p>
        </p:txBody>
      </p:sp>
      <p:sp>
        <p:nvSpPr>
          <p:cNvPr id="62" name="TextBox 61">
            <a:extLst>
              <a:ext uri="{FF2B5EF4-FFF2-40B4-BE49-F238E27FC236}">
                <a16:creationId xmlns:a16="http://schemas.microsoft.com/office/drawing/2014/main" id="{38146242-3014-F9C1-0089-A4BAB9DFA147}"/>
              </a:ext>
            </a:extLst>
          </p:cNvPr>
          <p:cNvSpPr txBox="1"/>
          <p:nvPr/>
        </p:nvSpPr>
        <p:spPr>
          <a:xfrm>
            <a:off x="26422641" y="6582348"/>
            <a:ext cx="11125199" cy="5770811"/>
          </a:xfrm>
          <a:prstGeom prst="rect">
            <a:avLst/>
          </a:prstGeom>
          <a:noFill/>
        </p:spPr>
        <p:txBody>
          <a:bodyPr wrap="square" lIns="91440" tIns="45720" rIns="91440" bIns="45720" rtlCol="0" anchor="t">
            <a:spAutoFit/>
          </a:bodyPr>
          <a:lstStyle/>
          <a:p>
            <a:r>
              <a:rPr sz="1800"/>
              <a:t>• Users massively over-request wallclock</a:t>
            </a:r>
          </a:p>
          <a:p>
            <a:r>
              <a:rPr sz="1800"/>
              <a:t>• Request limit encodes job type/intent</a:t>
            </a:r>
          </a:p>
          <a:p>
            <a:r>
              <a:rPr sz="1800"/>
              <a:t>• MoE isolates workload patterns effectively</a:t>
            </a:r>
          </a:p>
          <a:p>
            <a:r>
              <a:rPr sz="1800"/>
              <a:t>• Time-decay adapts to rolling behavior</a:t>
            </a:r>
          </a:p>
        </p:txBody>
      </p:sp>
      <p:sp>
        <p:nvSpPr>
          <p:cNvPr id="63" name="TextBox 62">
            <a:extLst>
              <a:ext uri="{FF2B5EF4-FFF2-40B4-BE49-F238E27FC236}">
                <a16:creationId xmlns:a16="http://schemas.microsoft.com/office/drawing/2014/main" id="{2CE96AD8-905E-D2F0-71BC-B1BBEDB0BC1C}"/>
              </a:ext>
            </a:extLst>
          </p:cNvPr>
          <p:cNvSpPr txBox="1"/>
          <p:nvPr/>
        </p:nvSpPr>
        <p:spPr>
          <a:xfrm>
            <a:off x="26217353" y="14903857"/>
            <a:ext cx="11220160" cy="6601807"/>
          </a:xfrm>
          <a:prstGeom prst="rect">
            <a:avLst/>
          </a:prstGeom>
          <a:noFill/>
        </p:spPr>
        <p:txBody>
          <a:bodyPr wrap="square" lIns="91440" tIns="45720" rIns="91440" bIns="45720" rtlCol="0" anchor="t">
            <a:spAutoFit/>
          </a:bodyPr>
          <a:lstStyle/>
          <a:p>
            <a:r>
              <a:rPr sz="1800"/>
              <a:t>• Scale to full hpc-oda-commons benchmark</a:t>
            </a:r>
          </a:p>
          <a:p>
            <a:r>
              <a:rPr sz="1800"/>
              <a:t>• Automate per-bin decay optimization</a:t>
            </a:r>
          </a:p>
          <a:p>
            <a:r>
              <a:rPr sz="1800"/>
              <a:t>• Integrate log_target per expert</a:t>
            </a:r>
          </a:p>
        </p:txBody>
      </p:sp>
      <p:sp>
        <p:nvSpPr>
          <p:cNvPr id="1024" name="TextBox 1023">
            <a:extLst>
              <a:ext uri="{FF2B5EF4-FFF2-40B4-BE49-F238E27FC236}">
                <a16:creationId xmlns:a16="http://schemas.microsoft.com/office/drawing/2014/main" id="{A30F76F3-2055-CD15-7ED4-7C6CCC9A8420}"/>
              </a:ext>
            </a:extLst>
          </p:cNvPr>
          <p:cNvSpPr txBox="1"/>
          <p:nvPr/>
        </p:nvSpPr>
        <p:spPr>
          <a:xfrm>
            <a:off x="618018" y="6411593"/>
            <a:ext cx="9993294" cy="13080504"/>
          </a:xfrm>
          <a:prstGeom prst="rect">
            <a:avLst/>
          </a:prstGeom>
          <a:noFill/>
        </p:spPr>
        <p:txBody>
          <a:bodyPr wrap="square" lIns="91440" tIns="45720" rIns="91440" bIns="45720" rtlCol="0" anchor="t">
            <a:spAutoFit/>
          </a:bodyPr>
          <a:lstStyle/>
          <a:p>
            <a:r>
              <a:rPr sz="1800"/>
              <a:t>• Runtime prediction critical for scheduling</a:t>
            </a:r>
          </a:p>
          <a:p>
            <a:r>
              <a:rPr sz="1800"/>
              <a:t>• Long-tail distributions hurt global models</a:t>
            </a:r>
          </a:p>
          <a:p>
            <a:r>
              <a:rPr sz="1800"/>
              <a:t>• Goal: Route workloads to specialized experts</a:t>
            </a:r>
          </a:p>
        </p:txBody>
      </p:sp>
      <p:sp>
        <p:nvSpPr>
          <p:cNvPr id="1034" name="Rounded Rectangle 1033">
            <a:extLst>
              <a:ext uri="{FF2B5EF4-FFF2-40B4-BE49-F238E27FC236}">
                <a16:creationId xmlns:a16="http://schemas.microsoft.com/office/drawing/2014/main" id="{9DB83C4C-0CFF-D720-61F2-F428B1706FC0}"/>
              </a:ext>
            </a:extLst>
          </p:cNvPr>
          <p:cNvSpPr/>
          <p:nvPr/>
        </p:nvSpPr>
        <p:spPr bwMode="auto">
          <a:xfrm>
            <a:off x="684831" y="5005641"/>
            <a:ext cx="10591800" cy="923544"/>
          </a:xfrm>
          <a:prstGeom prst="roundRect">
            <a:avLst/>
          </a:prstGeom>
          <a:solidFill>
            <a:schemeClr val="bg1">
              <a:lumMod val="85000"/>
              <a:alpha val="7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5400" i="0" u="sng">
                <a:solidFill>
                  <a:schemeClr val="accent6"/>
                </a:solidFill>
                <a:latin typeface="Times New Roman" panose="02020603050405020304" pitchFamily="18" charset="0"/>
                <a:cs typeface="Times New Roman" panose="02020603050405020304" pitchFamily="18" charset="0"/>
              </a:rPr>
              <a:t>Introduction</a:t>
            </a:r>
            <a:endParaRPr kumimoji="0" lang="en-US" sz="5400" b="1" i="0" u="none" strike="noStrike" cap="none" normalizeH="0" baseline="0">
              <a:ln>
                <a:noFill/>
              </a:ln>
              <a:effectLst/>
              <a:latin typeface="Helvetica" pitchFamily="2" charset="0"/>
              <a:ea typeface="ＭＳ Ｐゴシック" pitchFamily="-106" charset="-128"/>
              <a:cs typeface="ＭＳ Ｐゴシック" pitchFamily="-106" charset="-128"/>
            </a:endParaRPr>
          </a:p>
        </p:txBody>
      </p:sp>
      <p:sp>
        <p:nvSpPr>
          <p:cNvPr id="1037" name="Rounded Rectangle 1036">
            <a:extLst>
              <a:ext uri="{FF2B5EF4-FFF2-40B4-BE49-F238E27FC236}">
                <a16:creationId xmlns:a16="http://schemas.microsoft.com/office/drawing/2014/main" id="{9451D2FD-907A-758F-C1B8-CD929B1C81A9}"/>
              </a:ext>
            </a:extLst>
          </p:cNvPr>
          <p:cNvSpPr/>
          <p:nvPr/>
        </p:nvSpPr>
        <p:spPr bwMode="auto">
          <a:xfrm>
            <a:off x="979712" y="19350962"/>
            <a:ext cx="10289079" cy="923544"/>
          </a:xfrm>
          <a:prstGeom prst="roundRect">
            <a:avLst/>
          </a:prstGeom>
          <a:solidFill>
            <a:schemeClr val="bg1">
              <a:lumMod val="85000"/>
              <a:alpha val="7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5400" i="0" u="sng">
                <a:solidFill>
                  <a:schemeClr val="accent6"/>
                </a:solidFill>
                <a:latin typeface="Times New Roman" panose="02020603050405020304" pitchFamily="18" charset="0"/>
                <a:cs typeface="Times New Roman" panose="02020603050405020304" pitchFamily="18" charset="0"/>
              </a:rPr>
              <a:t>Methodology</a:t>
            </a:r>
            <a:endParaRPr kumimoji="0" lang="en-US" sz="5400" b="1" i="0" u="none" strike="noStrike" cap="none" normalizeH="0" baseline="0">
              <a:ln>
                <a:noFill/>
              </a:ln>
              <a:effectLst/>
              <a:latin typeface="Helvetica" pitchFamily="2" charset="0"/>
              <a:ea typeface="ＭＳ Ｐゴシック" pitchFamily="-106" charset="-128"/>
              <a:cs typeface="ＭＳ Ｐゴシック" pitchFamily="-106" charset="-128"/>
            </a:endParaRPr>
          </a:p>
        </p:txBody>
      </p:sp>
      <p:sp>
        <p:nvSpPr>
          <p:cNvPr id="1038" name="Rounded Rectangle 1037">
            <a:extLst>
              <a:ext uri="{FF2B5EF4-FFF2-40B4-BE49-F238E27FC236}">
                <a16:creationId xmlns:a16="http://schemas.microsoft.com/office/drawing/2014/main" id="{2D5C60A7-A4B1-CB48-E7B6-778E297D3486}"/>
              </a:ext>
            </a:extLst>
          </p:cNvPr>
          <p:cNvSpPr/>
          <p:nvPr/>
        </p:nvSpPr>
        <p:spPr bwMode="auto">
          <a:xfrm>
            <a:off x="13829862" y="5031848"/>
            <a:ext cx="10570642" cy="923544"/>
          </a:xfrm>
          <a:prstGeom prst="roundRect">
            <a:avLst/>
          </a:prstGeom>
          <a:solidFill>
            <a:schemeClr val="bg1">
              <a:lumMod val="85000"/>
              <a:alpha val="7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5400" i="0" u="sng">
                <a:solidFill>
                  <a:schemeClr val="accent6"/>
                </a:solidFill>
                <a:latin typeface="Times New Roman" panose="02020603050405020304" pitchFamily="18" charset="0"/>
                <a:cs typeface="Times New Roman" panose="02020603050405020304" pitchFamily="18" charset="0"/>
              </a:rPr>
              <a:t>Results</a:t>
            </a:r>
            <a:endParaRPr kumimoji="0" lang="en-US" sz="5400" b="1" i="0" u="none" strike="noStrike" cap="none" normalizeH="0" baseline="0">
              <a:ln>
                <a:noFill/>
              </a:ln>
              <a:effectLst/>
              <a:latin typeface="Helvetica" pitchFamily="2" charset="0"/>
              <a:ea typeface="ＭＳ Ｐゴシック" pitchFamily="-106" charset="-128"/>
              <a:cs typeface="ＭＳ Ｐゴシック" pitchFamily="-106" charset="-128"/>
            </a:endParaRPr>
          </a:p>
        </p:txBody>
      </p:sp>
      <p:sp>
        <p:nvSpPr>
          <p:cNvPr id="1039" name="Rounded Rectangle 1038">
            <a:extLst>
              <a:ext uri="{FF2B5EF4-FFF2-40B4-BE49-F238E27FC236}">
                <a16:creationId xmlns:a16="http://schemas.microsoft.com/office/drawing/2014/main" id="{90E6B1FA-80D9-4EBA-190A-C1D6359ACE03}"/>
              </a:ext>
            </a:extLst>
          </p:cNvPr>
          <p:cNvSpPr/>
          <p:nvPr/>
        </p:nvSpPr>
        <p:spPr bwMode="auto">
          <a:xfrm>
            <a:off x="27024678" y="5031848"/>
            <a:ext cx="10570642" cy="923544"/>
          </a:xfrm>
          <a:prstGeom prst="roundRect">
            <a:avLst/>
          </a:prstGeom>
          <a:solidFill>
            <a:schemeClr val="bg1">
              <a:lumMod val="85000"/>
              <a:alpha val="7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spcBef>
                <a:spcPct val="50000"/>
              </a:spcBef>
            </a:pPr>
            <a:r>
              <a:rPr lang="en-US" sz="5400" i="0" u="sng">
                <a:solidFill>
                  <a:schemeClr val="accent6"/>
                </a:solidFill>
                <a:latin typeface="Times New Roman" panose="02020603050405020304" pitchFamily="18" charset="0"/>
                <a:cs typeface="Times New Roman" panose="02020603050405020304" pitchFamily="18" charset="0"/>
              </a:rPr>
              <a:t>Discussion and Conclusion </a:t>
            </a:r>
            <a:endParaRPr lang="en-US" sz="11000" b="0" i="0" u="sng">
              <a:solidFill>
                <a:schemeClr val="accent6"/>
              </a:solidFill>
              <a:latin typeface="Times New Roman" panose="02020603050405020304" pitchFamily="18" charset="0"/>
              <a:cs typeface="Times New Roman" panose="02020603050405020304" pitchFamily="18" charset="0"/>
            </a:endParaRPr>
          </a:p>
        </p:txBody>
      </p:sp>
      <p:sp>
        <p:nvSpPr>
          <p:cNvPr id="1042" name="Rounded Rectangle 1041">
            <a:extLst>
              <a:ext uri="{FF2B5EF4-FFF2-40B4-BE49-F238E27FC236}">
                <a16:creationId xmlns:a16="http://schemas.microsoft.com/office/drawing/2014/main" id="{5D3C79C7-5DF5-D10A-9C6A-8EE13A4A87AB}"/>
              </a:ext>
            </a:extLst>
          </p:cNvPr>
          <p:cNvSpPr/>
          <p:nvPr/>
        </p:nvSpPr>
        <p:spPr bwMode="auto">
          <a:xfrm>
            <a:off x="26957070" y="13344324"/>
            <a:ext cx="10570642" cy="923544"/>
          </a:xfrm>
          <a:prstGeom prst="roundRect">
            <a:avLst/>
          </a:prstGeom>
          <a:solidFill>
            <a:schemeClr val="bg1">
              <a:lumMod val="85000"/>
              <a:alpha val="7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5400" i="0" u="sng">
                <a:solidFill>
                  <a:schemeClr val="accent6"/>
                </a:solidFill>
                <a:latin typeface="Times New Roman" panose="02020603050405020304" pitchFamily="18" charset="0"/>
                <a:cs typeface="Times New Roman" panose="02020603050405020304" pitchFamily="18" charset="0"/>
              </a:rPr>
              <a:t>Future Work</a:t>
            </a:r>
          </a:p>
        </p:txBody>
      </p:sp>
      <p:sp>
        <p:nvSpPr>
          <p:cNvPr id="1043" name="Rounded Rectangle 1042">
            <a:extLst>
              <a:ext uri="{FF2B5EF4-FFF2-40B4-BE49-F238E27FC236}">
                <a16:creationId xmlns:a16="http://schemas.microsoft.com/office/drawing/2014/main" id="{E9414D4C-4CB3-EFF3-A25F-394B0D0371DD}"/>
              </a:ext>
            </a:extLst>
          </p:cNvPr>
          <p:cNvSpPr/>
          <p:nvPr/>
        </p:nvSpPr>
        <p:spPr bwMode="auto">
          <a:xfrm>
            <a:off x="26977198" y="25012687"/>
            <a:ext cx="10570642" cy="923544"/>
          </a:xfrm>
          <a:prstGeom prst="roundRect">
            <a:avLst/>
          </a:prstGeom>
          <a:solidFill>
            <a:schemeClr val="bg1">
              <a:lumMod val="85000"/>
              <a:alpha val="7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5400" i="0" u="sng">
                <a:solidFill>
                  <a:schemeClr val="accent6"/>
                </a:solidFill>
                <a:latin typeface="Times New Roman" panose="02020603050405020304" pitchFamily="18" charset="0"/>
                <a:cs typeface="Times New Roman" panose="02020603050405020304" pitchFamily="18" charset="0"/>
              </a:rPr>
              <a:t>Acknowledgements</a:t>
            </a:r>
            <a:endParaRPr kumimoji="0" lang="en-US" sz="5400" b="1" i="0" u="none" strike="noStrike" cap="none" normalizeH="0" baseline="0">
              <a:ln>
                <a:noFill/>
              </a:ln>
              <a:effectLst/>
              <a:latin typeface="Helvetica" pitchFamily="2" charset="0"/>
              <a:ea typeface="ＭＳ Ｐゴシック" pitchFamily="-106" charset="-128"/>
              <a:cs typeface="ＭＳ Ｐゴシック" pitchFamily="-106" charset="-128"/>
            </a:endParaRPr>
          </a:p>
        </p:txBody>
      </p:sp>
      <p:sp>
        <p:nvSpPr>
          <p:cNvPr id="1044" name="Rounded Rectangle 1043">
            <a:extLst>
              <a:ext uri="{FF2B5EF4-FFF2-40B4-BE49-F238E27FC236}">
                <a16:creationId xmlns:a16="http://schemas.microsoft.com/office/drawing/2014/main" id="{F1B75D64-40EC-0CF7-9BB3-540F2A8B4E32}"/>
              </a:ext>
            </a:extLst>
          </p:cNvPr>
          <p:cNvSpPr/>
          <p:nvPr/>
        </p:nvSpPr>
        <p:spPr bwMode="auto">
          <a:xfrm>
            <a:off x="27024678" y="29394348"/>
            <a:ext cx="10570642" cy="923544"/>
          </a:xfrm>
          <a:prstGeom prst="roundRect">
            <a:avLst/>
          </a:prstGeom>
          <a:solidFill>
            <a:schemeClr val="bg1">
              <a:lumMod val="85000"/>
              <a:alpha val="7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5400" i="0" u="sng">
                <a:solidFill>
                  <a:schemeClr val="accent6"/>
                </a:solidFill>
                <a:latin typeface="Times New Roman" panose="02020603050405020304" pitchFamily="18" charset="0"/>
                <a:cs typeface="Times New Roman" panose="02020603050405020304" pitchFamily="18" charset="0"/>
              </a:rPr>
              <a:t>References</a:t>
            </a:r>
            <a:endParaRPr kumimoji="0" lang="en-US" sz="5400" b="1" i="0" u="none" strike="noStrike" cap="none" normalizeH="0" baseline="0">
              <a:ln>
                <a:noFill/>
              </a:ln>
              <a:effectLst/>
              <a:latin typeface="Helvetica" pitchFamily="2" charset="0"/>
              <a:ea typeface="ＭＳ Ｐゴシック" pitchFamily="-106" charset="-128"/>
              <a:cs typeface="ＭＳ Ｐゴシック" pitchFamily="-106" charset="-128"/>
            </a:endParaRPr>
          </a:p>
        </p:txBody>
      </p:sp>
      <p:pic>
        <p:nvPicPr>
          <p:cNvPr id="25" name="Picture 24" descr="Chart, bar chart&#10;&#10;AI-generated content may be incorrect.">
            <a:extLst>
              <a:ext uri="{FF2B5EF4-FFF2-40B4-BE49-F238E27FC236}">
                <a16:creationId xmlns:a16="http://schemas.microsoft.com/office/drawing/2014/main" id="{1CA97647-601E-462C-655E-B3A1B7213BB6}"/>
              </a:ext>
            </a:extLst>
          </p:cNvPr>
          <p:cNvPicPr>
            <a:picLocks noChangeAspect="1"/>
          </p:cNvPicPr>
          <p:nvPr/>
        </p:nvPicPr>
        <p:blipFill>
          <a:blip r:embed="rId14"/>
          <a:stretch>
            <a:fillRect/>
          </a:stretch>
        </p:blipFill>
        <p:spPr>
          <a:xfrm>
            <a:off x="19460045" y="15778312"/>
            <a:ext cx="5486399" cy="2743200"/>
          </a:xfrm>
          <a:prstGeom prst="rect">
            <a:avLst/>
          </a:prstGeom>
        </p:spPr>
      </p:pic>
      <p:pic>
        <p:nvPicPr>
          <p:cNvPr id="32" name="Picture 31" descr="Chart&#10;&#10;AI-generated content may be incorrect.">
            <a:extLst>
              <a:ext uri="{FF2B5EF4-FFF2-40B4-BE49-F238E27FC236}">
                <a16:creationId xmlns:a16="http://schemas.microsoft.com/office/drawing/2014/main" id="{F7EBE115-2B30-407E-9056-2A87D36108ED}"/>
              </a:ext>
            </a:extLst>
          </p:cNvPr>
          <p:cNvPicPr>
            <a:picLocks noChangeAspect="1"/>
          </p:cNvPicPr>
          <p:nvPr/>
        </p:nvPicPr>
        <p:blipFill>
          <a:blip r:embed="rId15"/>
          <a:stretch>
            <a:fillRect/>
          </a:stretch>
        </p:blipFill>
        <p:spPr>
          <a:xfrm>
            <a:off x="12846222" y="19057095"/>
            <a:ext cx="5486400" cy="2743200"/>
          </a:xfrm>
          <a:prstGeom prst="rect">
            <a:avLst/>
          </a:prstGeom>
        </p:spPr>
      </p:pic>
      <p:pic>
        <p:nvPicPr>
          <p:cNvPr id="34" name="Picture 33" descr="Chart, line chart, histogram&#10;&#10;AI-generated content may be incorrect.">
            <a:extLst>
              <a:ext uri="{FF2B5EF4-FFF2-40B4-BE49-F238E27FC236}">
                <a16:creationId xmlns:a16="http://schemas.microsoft.com/office/drawing/2014/main" id="{461F2EFD-D4FE-60B1-0E43-A7A18A8CCFA5}"/>
              </a:ext>
            </a:extLst>
          </p:cNvPr>
          <p:cNvPicPr>
            <a:picLocks noChangeAspect="1"/>
          </p:cNvPicPr>
          <p:nvPr/>
        </p:nvPicPr>
        <p:blipFill>
          <a:blip r:embed="rId16"/>
          <a:stretch>
            <a:fillRect/>
          </a:stretch>
        </p:blipFill>
        <p:spPr>
          <a:xfrm>
            <a:off x="19460044" y="18994954"/>
            <a:ext cx="5486399" cy="2743200"/>
          </a:xfrm>
          <a:prstGeom prst="rect">
            <a:avLst/>
          </a:prstGeom>
        </p:spPr>
      </p:pic>
      <p:pic>
        <p:nvPicPr>
          <p:cNvPr id="39" name="Picture 38" descr="Chart, line chart&#10;&#10;AI-generated content may be incorrect.">
            <a:extLst>
              <a:ext uri="{FF2B5EF4-FFF2-40B4-BE49-F238E27FC236}">
                <a16:creationId xmlns:a16="http://schemas.microsoft.com/office/drawing/2014/main" id="{3138D8E7-1E87-E345-0246-32003276BB23}"/>
              </a:ext>
            </a:extLst>
          </p:cNvPr>
          <p:cNvPicPr>
            <a:picLocks noChangeAspect="1"/>
          </p:cNvPicPr>
          <p:nvPr/>
        </p:nvPicPr>
        <p:blipFill>
          <a:blip r:embed="rId18"/>
          <a:stretch>
            <a:fillRect/>
          </a:stretch>
        </p:blipFill>
        <p:spPr>
          <a:xfrm>
            <a:off x="12355786" y="23905752"/>
            <a:ext cx="6291070" cy="3931920"/>
          </a:xfrm>
          <a:prstGeom prst="rect">
            <a:avLst/>
          </a:prstGeom>
        </p:spPr>
      </p:pic>
      <p:pic>
        <p:nvPicPr>
          <p:cNvPr id="48" name="Picture 47" descr="Chart, histogram&#10;&#10;AI-generated content may be incorrect.">
            <a:extLst>
              <a:ext uri="{FF2B5EF4-FFF2-40B4-BE49-F238E27FC236}">
                <a16:creationId xmlns:a16="http://schemas.microsoft.com/office/drawing/2014/main" id="{70527C78-702D-BE56-67D5-FD1CCE66D8DB}"/>
              </a:ext>
            </a:extLst>
          </p:cNvPr>
          <p:cNvPicPr>
            <a:picLocks noChangeAspect="1"/>
          </p:cNvPicPr>
          <p:nvPr/>
        </p:nvPicPr>
        <p:blipFill>
          <a:blip r:embed="rId19"/>
          <a:stretch>
            <a:fillRect/>
          </a:stretch>
        </p:blipFill>
        <p:spPr>
          <a:xfrm>
            <a:off x="19258526" y="28538261"/>
            <a:ext cx="6291073" cy="3931920"/>
          </a:xfrm>
          <a:prstGeom prst="rect">
            <a:avLst/>
          </a:prstGeom>
        </p:spPr>
      </p:pic>
      <p:pic>
        <p:nvPicPr>
          <p:cNvPr id="50" name="Picture 49" descr="Chart, histogram&#10;&#10;AI-generated content may be incorrect.">
            <a:extLst>
              <a:ext uri="{FF2B5EF4-FFF2-40B4-BE49-F238E27FC236}">
                <a16:creationId xmlns:a16="http://schemas.microsoft.com/office/drawing/2014/main" id="{F209E386-EB05-3D3E-ACF8-60230C4940AF}"/>
              </a:ext>
            </a:extLst>
          </p:cNvPr>
          <p:cNvPicPr>
            <a:picLocks noChangeAspect="1"/>
          </p:cNvPicPr>
          <p:nvPr/>
        </p:nvPicPr>
        <p:blipFill>
          <a:blip r:embed="rId20"/>
          <a:stretch>
            <a:fillRect/>
          </a:stretch>
        </p:blipFill>
        <p:spPr>
          <a:xfrm>
            <a:off x="19085580" y="23880181"/>
            <a:ext cx="6291072" cy="3931920"/>
          </a:xfrm>
          <a:prstGeom prst="rect">
            <a:avLst/>
          </a:prstGeom>
        </p:spPr>
      </p:pic>
      <p:pic>
        <p:nvPicPr>
          <p:cNvPr id="53" name="Picture 52">
            <a:extLst>
              <a:ext uri="{FF2B5EF4-FFF2-40B4-BE49-F238E27FC236}">
                <a16:creationId xmlns:a16="http://schemas.microsoft.com/office/drawing/2014/main" id="{EBAEFC61-9021-374A-05F0-6BAFE4CC3DE6}"/>
              </a:ext>
            </a:extLst>
          </p:cNvPr>
          <p:cNvPicPr>
            <a:picLocks noChangeAspect="1"/>
          </p:cNvPicPr>
          <p:nvPr/>
        </p:nvPicPr>
        <p:blipFill>
          <a:blip r:embed="rId21"/>
          <a:stretch>
            <a:fillRect/>
          </a:stretch>
        </p:blipFill>
        <p:spPr>
          <a:xfrm>
            <a:off x="12355784" y="28615427"/>
            <a:ext cx="6291072" cy="3931920"/>
          </a:xfrm>
          <a:prstGeom prst="rect">
            <a:avLst/>
          </a:prstGeom>
        </p:spPr>
      </p:pic>
      <p:sp>
        <p:nvSpPr>
          <p:cNvPr id="56" name="TextBox 55">
            <a:extLst>
              <a:ext uri="{FF2B5EF4-FFF2-40B4-BE49-F238E27FC236}">
                <a16:creationId xmlns:a16="http://schemas.microsoft.com/office/drawing/2014/main" id="{0F70554B-C986-EA22-9D35-1E23AF100A93}"/>
              </a:ext>
            </a:extLst>
          </p:cNvPr>
          <p:cNvSpPr txBox="1"/>
          <p:nvPr/>
        </p:nvSpPr>
        <p:spPr>
          <a:xfrm>
            <a:off x="12491476" y="33196341"/>
            <a:ext cx="13247414" cy="1323439"/>
          </a:xfrm>
          <a:prstGeom prst="rect">
            <a:avLst/>
          </a:prstGeom>
          <a:noFill/>
        </p:spPr>
        <p:txBody>
          <a:bodyPr wrap="square">
            <a:spAutoFit/>
          </a:bodyPr>
          <a:lstStyle/>
          <a:p>
            <a:r>
              <a:rPr lang="en-US" sz="3200" dirty="0"/>
              <a:t>Statistical Distributions of GPU Power Consumption in VASP Jobs</a:t>
            </a:r>
          </a:p>
          <a:p>
            <a:br>
              <a:rPr lang="en-US" dirty="0"/>
            </a:br>
            <a:endParaRPr lang="en-US" sz="2400" dirty="0"/>
          </a:p>
        </p:txBody>
      </p:sp>
      <p:pic>
        <p:nvPicPr>
          <p:cNvPr id="2055" name="Picture 2054" descr="NLR_Logo_Color[270].png"/>
          <p:cNvPicPr>
            <a:picLocks noChangeAspect="1"/>
          </p:cNvPicPr>
          <p:nvPr/>
        </p:nvPicPr>
        <p:blipFill>
          <a:blip r:embed="rId22"/>
          <a:stretch>
            <a:fillRect/>
          </a:stretch>
        </p:blipFill>
        <p:spPr>
          <a:xfrm>
            <a:off x="761999" y="772053"/>
            <a:ext cx="5791201" cy="1139509"/>
          </a:xfrm>
          <a:prstGeom prst="rect">
            <a:avLst/>
          </a:prstGeom>
        </p:spPr>
      </p:pic>
      <p:pic>
        <p:nvPicPr>
          <p:cNvPr id="2056" name="Picture 2055" descr="Screenshot 2026-08-18 at 12.28.11 PM.png"/>
          <p:cNvPicPr>
            <a:picLocks noChangeAspect="1"/>
          </p:cNvPicPr>
          <p:nvPr/>
        </p:nvPicPr>
        <p:blipFill>
          <a:blip r:embed="rId23"/>
          <a:stretch>
            <a:fillRect/>
          </a:stretch>
        </p:blipFill>
        <p:spPr>
          <a:xfrm>
            <a:off x="19487917" y="6550090"/>
            <a:ext cx="5486400" cy="2743200"/>
          </a:xfrm>
          <a:prstGeom prst="rect">
            <a:avLst/>
          </a:prstGeom>
        </p:spPr>
      </p:pic>
      <p:pic>
        <p:nvPicPr>
          <p:cNvPr id="2057" name="Picture 2056" descr="Screenshot 2026-08-18 at 12.27.43 PM.png"/>
          <p:cNvPicPr>
            <a:picLocks noChangeAspect="1"/>
          </p:cNvPicPr>
          <p:nvPr/>
        </p:nvPicPr>
        <p:blipFill>
          <a:blip r:embed="rId24"/>
          <a:stretch>
            <a:fillRect/>
          </a:stretch>
        </p:blipFill>
        <p:spPr>
          <a:xfrm>
            <a:off x="12812737" y="6583990"/>
            <a:ext cx="5486400" cy="2743200"/>
          </a:xfrm>
          <a:prstGeom prst="rect">
            <a:avLst/>
          </a:prstGeom>
        </p:spPr>
      </p:pic>
      <p:pic>
        <p:nvPicPr>
          <p:cNvPr id="2058" name="Picture 2057" descr="Screenshot 2026-08-18 at 12.27.38 PM.png"/>
          <p:cNvPicPr>
            <a:picLocks noChangeAspect="1"/>
          </p:cNvPicPr>
          <p:nvPr/>
        </p:nvPicPr>
        <p:blipFill>
          <a:blip r:embed="rId25"/>
          <a:stretch>
            <a:fillRect/>
          </a:stretch>
        </p:blipFill>
        <p:spPr>
          <a:xfrm>
            <a:off x="19487917" y="9528920"/>
            <a:ext cx="5486399" cy="2743200"/>
          </a:xfrm>
          <a:prstGeom prst="rect">
            <a:avLst/>
          </a:prstGeom>
        </p:spPr>
      </p:pic>
      <p:pic>
        <p:nvPicPr>
          <p:cNvPr id="2059" name="Picture 2058" descr="Screenshot 2026-08-18 at 12.27.33 PM.png"/>
          <p:cNvPicPr>
            <a:picLocks noChangeAspect="1"/>
          </p:cNvPicPr>
          <p:nvPr/>
        </p:nvPicPr>
        <p:blipFill>
          <a:blip r:embed="rId26"/>
          <a:stretch>
            <a:fillRect/>
          </a:stretch>
        </p:blipFill>
        <p:spPr>
          <a:xfrm>
            <a:off x="12812737" y="9609959"/>
            <a:ext cx="5486400" cy="2743200"/>
          </a:xfrm>
          <a:prstGeom prst="rect">
            <a:avLst/>
          </a:prstGeom>
        </p:spPr>
      </p:pic>
      <p:pic>
        <p:nvPicPr>
          <p:cNvPr id="2060" name="Picture 2059" descr="Screenshot 2026-08-18 at 12.27.26 PM.png"/>
          <p:cNvPicPr>
            <a:picLocks noChangeAspect="1"/>
          </p:cNvPicPr>
          <p:nvPr/>
        </p:nvPicPr>
        <p:blipFill>
          <a:blip r:embed="rId27"/>
          <a:stretch>
            <a:fillRect/>
          </a:stretch>
        </p:blipFill>
        <p:spPr>
          <a:xfrm>
            <a:off x="1550673" y="10102139"/>
            <a:ext cx="8782670" cy="3345635"/>
          </a:xfrm>
          <a:prstGeom prst="rect">
            <a:avLst/>
          </a:prstGeom>
        </p:spPr>
      </p:pic>
      <p:pic>
        <p:nvPicPr>
          <p:cNvPr id="2061" name="Picture 2060" descr="Screenshot 2026-08-18 at 12.27.21 PM.png"/>
          <p:cNvPicPr>
            <a:picLocks noChangeAspect="1"/>
          </p:cNvPicPr>
          <p:nvPr/>
        </p:nvPicPr>
        <p:blipFill>
          <a:blip r:embed="rId28"/>
          <a:stretch>
            <a:fillRect/>
          </a:stretch>
        </p:blipFill>
        <p:spPr>
          <a:xfrm>
            <a:off x="12846222" y="12635928"/>
            <a:ext cx="5486399" cy="2743200"/>
          </a:xfrm>
          <a:prstGeom prst="rect">
            <a:avLst/>
          </a:prstGeom>
        </p:spPr>
      </p:pic>
      <p:pic>
        <p:nvPicPr>
          <p:cNvPr id="2062" name="Picture 2061" descr="Screenshot 2026-08-18 at 12.27.13 PM.png"/>
          <p:cNvPicPr>
            <a:picLocks noChangeAspect="1"/>
          </p:cNvPicPr>
          <p:nvPr/>
        </p:nvPicPr>
        <p:blipFill>
          <a:blip r:embed="rId29"/>
          <a:stretch>
            <a:fillRect/>
          </a:stretch>
        </p:blipFill>
        <p:spPr>
          <a:xfrm>
            <a:off x="19460046" y="12635928"/>
            <a:ext cx="5486399" cy="2743200"/>
          </a:xfrm>
          <a:prstGeom prst="rect">
            <a:avLst/>
          </a:prstGeom>
        </p:spPr>
      </p:pic>
      <p:pic>
        <p:nvPicPr>
          <p:cNvPr id="2063" name="Picture 2062" descr="Screenshot 2026-08-18 at 12.27.04 PM.png"/>
          <p:cNvPicPr>
            <a:picLocks noChangeAspect="1"/>
          </p:cNvPicPr>
          <p:nvPr/>
        </p:nvPicPr>
        <p:blipFill>
          <a:blip r:embed="rId30"/>
          <a:stretch>
            <a:fillRect/>
          </a:stretch>
        </p:blipFill>
        <p:spPr>
          <a:xfrm>
            <a:off x="12846222" y="15778312"/>
            <a:ext cx="5486399" cy="2743200"/>
          </a:xfrm>
          <a:prstGeom prst="rect">
            <a:avLst/>
          </a:prstGeom>
        </p:spPr>
      </p:pic>
    </p:spTree>
  </p:cSld>
  <p:clrMapOvr>
    <a:masterClrMapping/>
  </p:clrMapOvr>
</p:sld>
</file>

<file path=ppt/theme/theme1.xml><?xml version="1.0" encoding="utf-8"?>
<a:theme xmlns:a="http://schemas.openxmlformats.org/drawingml/2006/main" name="Blank Presentation">
  <a:themeElements>
    <a:clrScheme name="Custom 3">
      <a:dk1>
        <a:srgbClr val="0079C1"/>
      </a:dk1>
      <a:lt1>
        <a:srgbClr val="FFFFFF"/>
      </a:lt1>
      <a:dk2>
        <a:srgbClr val="6A737B"/>
      </a:dk2>
      <a:lt2>
        <a:srgbClr val="FFFFFF"/>
      </a:lt2>
      <a:accent1>
        <a:srgbClr val="F6A01A"/>
      </a:accent1>
      <a:accent2>
        <a:srgbClr val="FFC425"/>
      </a:accent2>
      <a:accent3>
        <a:srgbClr val="00A4E4"/>
      </a:accent3>
      <a:accent4>
        <a:srgbClr val="5E9732"/>
      </a:accent4>
      <a:accent5>
        <a:srgbClr val="8DC63F"/>
      </a:accent5>
      <a:accent6>
        <a:srgbClr val="000000"/>
      </a:accent6>
      <a:hlink>
        <a:srgbClr val="00A4E4"/>
      </a:hlink>
      <a:folHlink>
        <a:srgbClr val="F6A01A"/>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5965d95-ecc0-4720-b759-1f33c42ed7da}" enabled="1" method="Privileged" siteId="{a0f29d7e-28cd-4f54-8442-7885aee7c080}" removed="0"/>
</clbl:labelList>
</file>

<file path=docProps/app.xml><?xml version="1.0" encoding="utf-8"?>
<Properties xmlns="http://schemas.openxmlformats.org/officeDocument/2006/extended-properties" xmlns:vt="http://schemas.openxmlformats.org/officeDocument/2006/docPropsVTypes">
  <TotalTime>0</TotalTime>
  <Words>673</Words>
  <Application>Microsoft Macintosh PowerPoint</Application>
  <PresentationFormat>Custom</PresentationFormat>
  <Paragraphs>59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Helvetica</vt:lpstr>
      <vt:lpstr>Times New Roman</vt:lpstr>
      <vt:lpstr>Wingdings</vt:lpstr>
      <vt:lpstr>Blank Presentation</vt:lpstr>
      <vt:lpstr>PowerPoint Presentation</vt:lpstr>
    </vt:vector>
  </TitlesOfParts>
  <Company>Bill Gillies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NREL 42x42 Poster Template</dc:title>
  <dc:subject>Use this template for conferences, etc.</dc:subject>
  <dc:creator>NREL Communications Office</dc:creator>
  <cp:lastModifiedBy>Menear, Kevin</cp:lastModifiedBy>
  <cp:revision>4</cp:revision>
  <cp:lastPrinted>2011-01-06T23:25:15Z</cp:lastPrinted>
  <dcterms:created xsi:type="dcterms:W3CDTF">2009-08-19T15:15:49Z</dcterms:created>
  <dcterms:modified xsi:type="dcterms:W3CDTF">2026-08-14T03:05:58Z</dcterms:modified>
</cp:coreProperties>
</file>