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8404800" cy="38404800"/>
  <p:notesSz cx="6858000" cy="9144000"/>
  <p:defaultTextStyle>
    <a:defPPr>
      <a:defRPr lang="en-US"/>
    </a:defPPr>
    <a:lvl1pPr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1pPr>
    <a:lvl2pPr marL="4572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2pPr>
    <a:lvl3pPr marL="9144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3pPr>
    <a:lvl4pPr marL="13716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4pPr>
    <a:lvl5pPr marL="18288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5pPr>
    <a:lvl6pPr marL="2286000" algn="l" defTabSz="914400" rtl="0" eaLnBrk="1" latinLnBrk="0" hangingPunct="1">
      <a:defRPr sz="2400" b="1" i="1" kern="1200">
        <a:solidFill>
          <a:schemeClr val="tx1"/>
        </a:solidFill>
        <a:latin typeface="Arial" charset="0"/>
        <a:ea typeface="ＭＳ Ｐゴシック" charset="-128"/>
        <a:cs typeface="+mn-cs"/>
      </a:defRPr>
    </a:lvl6pPr>
    <a:lvl7pPr marL="2743200" algn="l" defTabSz="914400" rtl="0" eaLnBrk="1" latinLnBrk="0" hangingPunct="1">
      <a:defRPr sz="2400" b="1" i="1" kern="1200">
        <a:solidFill>
          <a:schemeClr val="tx1"/>
        </a:solidFill>
        <a:latin typeface="Arial" charset="0"/>
        <a:ea typeface="ＭＳ Ｐゴシック" charset="-128"/>
        <a:cs typeface="+mn-cs"/>
      </a:defRPr>
    </a:lvl7pPr>
    <a:lvl8pPr marL="3200400" algn="l" defTabSz="914400" rtl="0" eaLnBrk="1" latinLnBrk="0" hangingPunct="1">
      <a:defRPr sz="2400" b="1" i="1" kern="1200">
        <a:solidFill>
          <a:schemeClr val="tx1"/>
        </a:solidFill>
        <a:latin typeface="Arial" charset="0"/>
        <a:ea typeface="ＭＳ Ｐゴシック" charset="-128"/>
        <a:cs typeface="+mn-cs"/>
      </a:defRPr>
    </a:lvl8pPr>
    <a:lvl9pPr marL="3657600" algn="l" defTabSz="914400" rtl="0" eaLnBrk="1" latinLnBrk="0" hangingPunct="1">
      <a:defRPr sz="2400" b="1" 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5760">
          <p15:clr>
            <a:srgbClr val="A4A3A4"/>
          </p15:clr>
        </p15:guide>
        <p15:guide id="2" orient="horz" pos="816">
          <p15:clr>
            <a:srgbClr val="A4A3A4"/>
          </p15:clr>
        </p15:guide>
        <p15:guide id="3" orient="horz" pos="25919">
          <p15:clr>
            <a:srgbClr val="A4A3A4"/>
          </p15:clr>
        </p15:guide>
        <p15:guide id="4" orient="horz" pos="-1152">
          <p15:clr>
            <a:srgbClr val="A4A3A4"/>
          </p15:clr>
        </p15:guide>
        <p15:guide id="5" orient="horz" pos="9216">
          <p15:clr>
            <a:srgbClr val="A4A3A4"/>
          </p15:clr>
        </p15:guide>
        <p15:guide id="6" orient="horz" pos="19584">
          <p15:clr>
            <a:srgbClr val="A4A3A4"/>
          </p15:clr>
        </p15:guide>
        <p15:guide id="7" orient="horz" pos="12672">
          <p15:clr>
            <a:srgbClr val="A4A3A4"/>
          </p15:clr>
        </p15:guide>
        <p15:guide id="8" orient="horz" pos="25584">
          <p15:clr>
            <a:srgbClr val="A4A3A4"/>
          </p15:clr>
        </p15:guide>
        <p15:guide id="9" pos="12096">
          <p15:clr>
            <a:srgbClr val="A4A3A4"/>
          </p15:clr>
        </p15:guide>
        <p15:guide id="10" pos="7872">
          <p15:clr>
            <a:srgbClr val="A4A3A4"/>
          </p15:clr>
        </p15:guide>
        <p15:guide id="11" pos="16320">
          <p15:clr>
            <a:srgbClr val="A4A3A4"/>
          </p15:clr>
        </p15:guide>
        <p15:guide id="12" pos="576">
          <p15:clr>
            <a:srgbClr val="A4A3A4"/>
          </p15:clr>
        </p15:guide>
        <p15:guide id="13" pos="23616">
          <p15:clr>
            <a:srgbClr val="A4A3A4"/>
          </p15:clr>
        </p15:guide>
        <p15:guide id="14" pos="24432">
          <p15:clr>
            <a:srgbClr val="A4A3A4"/>
          </p15:clr>
        </p15:guide>
        <p15:guide id="15" pos="8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61C2"/>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914625-03A4-51BA-12C1-F94F02818BF1}" v="2528" dt="2025-08-05T16:03:30.279"/>
    <p1510:client id="{6CAC2814-F852-F241-B37D-A6AB2C1B0B93}" v="155" dt="2025-08-05T18:18:02.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906"/>
    <p:restoredTop sz="94589"/>
  </p:normalViewPr>
  <p:slideViewPr>
    <p:cSldViewPr snapToGrid="0">
      <p:cViewPr varScale="1">
        <p:scale>
          <a:sx n="21" d="100"/>
          <a:sy n="21" d="100"/>
        </p:scale>
        <p:origin x="3856" y="240"/>
      </p:cViewPr>
      <p:guideLst>
        <p:guide orient="horz" pos="5760"/>
        <p:guide orient="horz" pos="816"/>
        <p:guide orient="horz" pos="25919"/>
        <p:guide orient="horz" pos="-1152"/>
        <p:guide orient="horz" pos="9216"/>
        <p:guide orient="horz" pos="19584"/>
        <p:guide orient="horz" pos="12672"/>
        <p:guide orient="horz" pos="25584"/>
        <p:guide pos="12096"/>
        <p:guide pos="7872"/>
        <p:guide pos="16320"/>
        <p:guide pos="576"/>
        <p:guide pos="23616"/>
        <p:guide pos="24432"/>
        <p:guide pos="8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D27E12-2199-B943-8A6E-F8C5FCA8ABA9}" type="datetimeFigureOut">
              <a:rPr lang="en-US" smtClean="0"/>
              <a:t>8/13/26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637C0-F00D-1241-AF00-5EC6C0957BEC}" type="slidenum">
              <a:rPr lang="en-US" smtClean="0"/>
              <a:t>‹#›</a:t>
            </a:fld>
            <a:endParaRPr lang="en-US"/>
          </a:p>
        </p:txBody>
      </p:sp>
    </p:spTree>
    <p:extLst>
      <p:ext uri="{BB962C8B-B14F-4D97-AF65-F5344CB8AC3E}">
        <p14:creationId xmlns:p14="http://schemas.microsoft.com/office/powerpoint/2010/main" val="4076653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4637C0-F00D-1241-AF00-5EC6C0957BEC}" type="slidenum">
              <a:rPr lang="en-US" smtClean="0"/>
              <a:t>1</a:t>
            </a:fld>
            <a:endParaRPr lang="en-US"/>
          </a:p>
        </p:txBody>
      </p:sp>
    </p:spTree>
    <p:extLst>
      <p:ext uri="{BB962C8B-B14F-4D97-AF65-F5344CB8AC3E}">
        <p14:creationId xmlns:p14="http://schemas.microsoft.com/office/powerpoint/2010/main" val="369212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79725" y="11930659"/>
            <a:ext cx="32645350" cy="8231584"/>
          </a:xfrm>
        </p:spPr>
        <p:txBody>
          <a:bodyPr/>
          <a:lstStyle/>
          <a:p>
            <a:r>
              <a:rPr lang="en-US"/>
              <a:t>Click to edit Master title style</a:t>
            </a:r>
          </a:p>
        </p:txBody>
      </p:sp>
      <p:sp>
        <p:nvSpPr>
          <p:cNvPr id="3" name="Subtitle 2"/>
          <p:cNvSpPr>
            <a:spLocks noGrp="1"/>
          </p:cNvSpPr>
          <p:nvPr>
            <p:ph type="subTitle" idx="1"/>
          </p:nvPr>
        </p:nvSpPr>
        <p:spPr>
          <a:xfrm>
            <a:off x="5761039" y="21762443"/>
            <a:ext cx="26882725" cy="981511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459F6BE-2D59-4E3B-BB76-EAFD62AA1341}"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BFB4F06-774E-4B78-8FBE-A1C4D285F5D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3" y="24678085"/>
            <a:ext cx="32643762" cy="7628731"/>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033713" y="16277034"/>
            <a:ext cx="32643762" cy="84010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01DD889C-834B-4B4A-B92D-A1FA3C74739A}"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81314" y="11094443"/>
            <a:ext cx="16244887" cy="2304315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278600" y="11094443"/>
            <a:ext cx="16244888" cy="2304315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A5818EB-35A7-4398-A57E-E9550617905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20875" y="1537693"/>
            <a:ext cx="34563050" cy="64008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20875" y="8596908"/>
            <a:ext cx="16968788" cy="35823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875" y="12179300"/>
            <a:ext cx="16968788" cy="221277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8789" y="8596908"/>
            <a:ext cx="16975137" cy="35823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9508789" y="12179300"/>
            <a:ext cx="16975137" cy="221277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FFCDBE19-F304-4224-921B-37310AC00CF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E77E7003-466B-4C38-9A85-85DACFB069D1}"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46344017-61B7-466C-A617-353B049C48AB}"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875" y="1529359"/>
            <a:ext cx="12634913" cy="650775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5014575" y="1529359"/>
            <a:ext cx="21469350" cy="3277770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20875" y="8037116"/>
            <a:ext cx="12634913" cy="262699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77533B8-D237-41AD-A46E-C5A010449029}"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926" y="26883916"/>
            <a:ext cx="23042563" cy="317261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7527926" y="3430985"/>
            <a:ext cx="23042563" cy="230431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7527926" y="30056535"/>
            <a:ext cx="23042563" cy="450750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5084FFA-586D-43FE-B326-3C3349DD336C}"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5E6EC436-C759-472B-9919-54C44E33CA9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363738" y="3414316"/>
            <a:ext cx="8159750" cy="3072328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81314" y="3414316"/>
            <a:ext cx="24330025" cy="307232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87F85A35-6464-40E6-9921-3689848822B4}"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881313" y="3414713"/>
            <a:ext cx="32642175" cy="6400800"/>
          </a:xfrm>
          <a:prstGeom prst="rect">
            <a:avLst/>
          </a:prstGeom>
          <a:noFill/>
          <a:ln w="9525">
            <a:noFill/>
            <a:miter lim="800000"/>
            <a:headEnd/>
            <a:tailEnd/>
          </a:ln>
        </p:spPr>
        <p:txBody>
          <a:bodyPr vert="horz" wrap="square" lIns="501612" tIns="250806" rIns="501612" bIns="250806"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881313" y="11095038"/>
            <a:ext cx="32642175" cy="23042562"/>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881313" y="34990088"/>
            <a:ext cx="8001000" cy="2562225"/>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lvl1pPr algn="l">
              <a:defRPr sz="7700" b="0" i="0"/>
            </a:lvl1pPr>
          </a:lstStyle>
          <a:p>
            <a:endParaRPr lang="en-US"/>
          </a:p>
        </p:txBody>
      </p:sp>
      <p:sp>
        <p:nvSpPr>
          <p:cNvPr id="1029" name="Rectangle 5"/>
          <p:cNvSpPr>
            <a:spLocks noGrp="1" noChangeArrowheads="1"/>
          </p:cNvSpPr>
          <p:nvPr>
            <p:ph type="ftr" sz="quarter" idx="3"/>
          </p:nvPr>
        </p:nvSpPr>
        <p:spPr bwMode="auto">
          <a:xfrm>
            <a:off x="13120688" y="34990088"/>
            <a:ext cx="12163425" cy="2562225"/>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lvl1pPr algn="ctr">
              <a:defRPr sz="7700" b="0" i="0"/>
            </a:lvl1pPr>
          </a:lstStyle>
          <a:p>
            <a:endParaRPr lang="en-US"/>
          </a:p>
        </p:txBody>
      </p:sp>
      <p:sp>
        <p:nvSpPr>
          <p:cNvPr id="1030" name="Rectangle 6"/>
          <p:cNvSpPr>
            <a:spLocks noGrp="1" noChangeArrowheads="1"/>
          </p:cNvSpPr>
          <p:nvPr>
            <p:ph type="sldNum" sz="quarter" idx="4"/>
          </p:nvPr>
        </p:nvSpPr>
        <p:spPr bwMode="auto">
          <a:xfrm>
            <a:off x="27522488" y="34990088"/>
            <a:ext cx="8001000" cy="2562225"/>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lvl1pPr>
              <a:defRPr sz="7700" b="0" i="0"/>
            </a:lvl1pPr>
          </a:lstStyle>
          <a:p>
            <a:fld id="{D612CE57-CB3D-4A48-9A26-3326A2B69941}"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016500" rtl="0" eaLnBrk="0" fontAlgn="base" hangingPunct="0">
        <a:spcBef>
          <a:spcPct val="0"/>
        </a:spcBef>
        <a:spcAft>
          <a:spcPct val="0"/>
        </a:spcAft>
        <a:defRPr sz="24100">
          <a:solidFill>
            <a:schemeClr val="tx2"/>
          </a:solidFill>
          <a:latin typeface="+mj-lt"/>
          <a:ea typeface="+mj-ea"/>
          <a:cs typeface="+mj-cs"/>
        </a:defRPr>
      </a:lvl1pPr>
      <a:lvl2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2pPr>
      <a:lvl3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3pPr>
      <a:lvl4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4pPr>
      <a:lvl5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5pPr>
      <a:lvl6pPr marL="4572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6pPr>
      <a:lvl7pPr marL="9144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7pPr>
      <a:lvl8pPr marL="13716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8pPr>
      <a:lvl9pPr marL="18288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9pPr>
    </p:titleStyle>
    <p:bodyStyle>
      <a:lvl1pPr marL="1881188" indent="-1881188" algn="l" defTabSz="5016500" rtl="0" eaLnBrk="0" fontAlgn="base" hangingPunct="0">
        <a:spcBef>
          <a:spcPct val="20000"/>
        </a:spcBef>
        <a:spcAft>
          <a:spcPct val="0"/>
        </a:spcAft>
        <a:buChar char="•"/>
        <a:defRPr sz="17600">
          <a:solidFill>
            <a:schemeClr val="tx1"/>
          </a:solidFill>
          <a:latin typeface="+mn-lt"/>
          <a:ea typeface="+mn-ea"/>
          <a:cs typeface="+mn-cs"/>
        </a:defRPr>
      </a:lvl1pPr>
      <a:lvl2pPr marL="4075113" indent="-1566863" algn="l" defTabSz="5016500" rtl="0" eaLnBrk="0" fontAlgn="base" hangingPunct="0">
        <a:spcBef>
          <a:spcPct val="20000"/>
        </a:spcBef>
        <a:spcAft>
          <a:spcPct val="0"/>
        </a:spcAft>
        <a:buChar char="–"/>
        <a:defRPr sz="15400">
          <a:solidFill>
            <a:schemeClr val="tx1"/>
          </a:solidFill>
          <a:latin typeface="+mn-lt"/>
          <a:ea typeface="+mn-ea"/>
        </a:defRPr>
      </a:lvl2pPr>
      <a:lvl3pPr marL="6270625" indent="-1254125" algn="l" defTabSz="5016500" rtl="0" eaLnBrk="0" fontAlgn="base" hangingPunct="0">
        <a:spcBef>
          <a:spcPct val="20000"/>
        </a:spcBef>
        <a:spcAft>
          <a:spcPct val="0"/>
        </a:spcAft>
        <a:buChar char="•"/>
        <a:defRPr sz="13200">
          <a:solidFill>
            <a:schemeClr val="tx1"/>
          </a:solidFill>
          <a:latin typeface="+mn-lt"/>
          <a:ea typeface="+mn-ea"/>
        </a:defRPr>
      </a:lvl3pPr>
      <a:lvl4pPr marL="8778875" indent="-1254125" algn="l" defTabSz="5016500" rtl="0" eaLnBrk="0" fontAlgn="base" hangingPunct="0">
        <a:spcBef>
          <a:spcPct val="20000"/>
        </a:spcBef>
        <a:spcAft>
          <a:spcPct val="0"/>
        </a:spcAft>
        <a:buChar char="–"/>
        <a:defRPr sz="11000">
          <a:solidFill>
            <a:schemeClr val="tx1"/>
          </a:solidFill>
          <a:latin typeface="+mn-lt"/>
          <a:ea typeface="+mn-ea"/>
        </a:defRPr>
      </a:lvl4pPr>
      <a:lvl5pPr marL="11285538" indent="-1252538" algn="l" defTabSz="5016500" rtl="0" eaLnBrk="0" fontAlgn="base" hangingPunct="0">
        <a:spcBef>
          <a:spcPct val="20000"/>
        </a:spcBef>
        <a:spcAft>
          <a:spcPct val="0"/>
        </a:spcAft>
        <a:buChar char="»"/>
        <a:defRPr sz="11000">
          <a:solidFill>
            <a:schemeClr val="tx1"/>
          </a:solidFill>
          <a:latin typeface="+mn-lt"/>
          <a:ea typeface="+mn-ea"/>
        </a:defRPr>
      </a:lvl5pPr>
      <a:lvl6pPr marL="11742738" indent="-1252538" algn="l" defTabSz="5016500" rtl="0" fontAlgn="base">
        <a:spcBef>
          <a:spcPct val="20000"/>
        </a:spcBef>
        <a:spcAft>
          <a:spcPct val="0"/>
        </a:spcAft>
        <a:buChar char="»"/>
        <a:defRPr sz="11000">
          <a:solidFill>
            <a:schemeClr val="tx1"/>
          </a:solidFill>
          <a:latin typeface="+mn-lt"/>
          <a:ea typeface="+mn-ea"/>
        </a:defRPr>
      </a:lvl6pPr>
      <a:lvl7pPr marL="12199938" indent="-1252538" algn="l" defTabSz="5016500" rtl="0" fontAlgn="base">
        <a:spcBef>
          <a:spcPct val="20000"/>
        </a:spcBef>
        <a:spcAft>
          <a:spcPct val="0"/>
        </a:spcAft>
        <a:buChar char="»"/>
        <a:defRPr sz="11000">
          <a:solidFill>
            <a:schemeClr val="tx1"/>
          </a:solidFill>
          <a:latin typeface="+mn-lt"/>
          <a:ea typeface="+mn-ea"/>
        </a:defRPr>
      </a:lvl7pPr>
      <a:lvl8pPr marL="12657138" indent="-1252538" algn="l" defTabSz="5016500" rtl="0" fontAlgn="base">
        <a:spcBef>
          <a:spcPct val="20000"/>
        </a:spcBef>
        <a:spcAft>
          <a:spcPct val="0"/>
        </a:spcAft>
        <a:buChar char="»"/>
        <a:defRPr sz="11000">
          <a:solidFill>
            <a:schemeClr val="tx1"/>
          </a:solidFill>
          <a:latin typeface="+mn-lt"/>
          <a:ea typeface="+mn-ea"/>
        </a:defRPr>
      </a:lvl8pPr>
      <a:lvl9pPr marL="13114338" indent="-1252538" algn="l" defTabSz="5016500" rtl="0" fontAlgn="base">
        <a:spcBef>
          <a:spcPct val="20000"/>
        </a:spcBef>
        <a:spcAft>
          <a:spcPct val="0"/>
        </a:spcAft>
        <a:buChar char="»"/>
        <a:defRPr sz="11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png"/><Relationship Id="rId5" Type="http://schemas.openxmlformats.org/officeDocument/2006/relationships/image" Target="../media/image3.png"/><Relationship Id="rId6" Type="http://schemas.microsoft.com/office/2007/relationships/hdphoto" Target="../media/hdphoto1.wdp"/><Relationship Id="rId7" Type="http://schemas.openxmlformats.org/officeDocument/2006/relationships/image" Target="../media/image4.jpe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3.png"/><Relationship Id="rId17" Type="http://schemas.openxmlformats.org/officeDocument/2006/relationships/image" Target="../media/image14.png"/><Relationship Id="rId18" Type="http://schemas.openxmlformats.org/officeDocument/2006/relationships/image" Target="../media/image15.png"/><Relationship Id="rId19" Type="http://schemas.openxmlformats.org/officeDocument/2006/relationships/image" Target="../media/image16.png"/><Relationship Id="rId20" Type="http://schemas.openxmlformats.org/officeDocument/2006/relationships/image" Target="../media/image17.png"/><Relationship Id="rId21" Type="http://schemas.openxmlformats.org/officeDocument/2006/relationships/image" Target="../media/image18.png"/><Relationship Id="rId22" Type="http://schemas.openxmlformats.org/officeDocument/2006/relationships/image" Target="../media/image19.png"/><Relationship Id="rId23" Type="http://schemas.openxmlformats.org/officeDocument/2006/relationships/image" Target="../media/image20.png"/><Relationship Id="rId24" Type="http://schemas.openxmlformats.org/officeDocument/2006/relationships/image" Target="../media/image21.png"/><Relationship Id="rId2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8404800" cy="38404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00" cy="461772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411480"/>
            <a:ext cx="6172200" cy="13716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LR_Logo_Color[270].png"/>
          <p:cNvPicPr>
            <a:picLocks noChangeAspect="1"/>
          </p:cNvPicPr>
          <p:nvPr/>
        </p:nvPicPr>
        <p:blipFill>
          <a:blip r:embed="rId22"/>
          <a:stretch>
            <a:fillRect/>
          </a:stretch>
        </p:blipFill>
        <p:spPr>
          <a:xfrm>
            <a:off x="566928" y="576072"/>
            <a:ext cx="5852160" cy="1124712"/>
          </a:xfrm>
          <a:prstGeom prst="rect">
            <a:avLst/>
          </a:prstGeom>
        </p:spPr>
      </p:pic>
      <p:sp>
        <p:nvSpPr>
          <p:cNvPr id="6" name="TextBox 5"/>
          <p:cNvSpPr txBox="1"/>
          <p:nvPr/>
        </p:nvSpPr>
        <p:spPr>
          <a:xfrm>
            <a:off x="6858000" y="201168"/>
            <a:ext cx="25968960" cy="2148840"/>
          </a:xfrm>
          <a:prstGeom prst="rect">
            <a:avLst/>
          </a:prstGeom>
          <a:noFill/>
        </p:spPr>
        <p:txBody>
          <a:bodyPr wrap="square" lIns="73152" rIns="73152" tIns="73152" bIns="73152" anchor="ctr">
            <a:spAutoFit/>
          </a:bodyPr>
          <a:lstStyle/>
          <a:p>
            <a:pPr algn="ctr">
              <a:spcAft>
                <a:spcPts val="0"/>
              </a:spcAft>
            </a:pPr>
            <a:r>
              <a:rPr sz="5700" b="1" i="0" u="none">
                <a:solidFill>
                  <a:srgbClr val="FFFFFF"/>
                </a:solidFill>
                <a:latin typeface="Arial"/>
              </a:rPr>
              <a:t>Reproducible Runtime Prediction for
Heterogeneous HPC Workloads</a:t>
            </a:r>
          </a:p>
        </p:txBody>
      </p:sp>
      <p:sp>
        <p:nvSpPr>
          <p:cNvPr id="7" name="TextBox 6"/>
          <p:cNvSpPr txBox="1"/>
          <p:nvPr/>
        </p:nvSpPr>
        <p:spPr>
          <a:xfrm>
            <a:off x="7498079" y="2514600"/>
            <a:ext cx="24871680" cy="1508760"/>
          </a:xfrm>
          <a:prstGeom prst="rect">
            <a:avLst/>
          </a:prstGeom>
          <a:noFill/>
        </p:spPr>
        <p:txBody>
          <a:bodyPr wrap="square" lIns="73152" rIns="73152" tIns="73152" bIns="73152" anchor="ctr">
            <a:spAutoFit/>
          </a:bodyPr>
          <a:lstStyle/>
          <a:p>
            <a:pPr algn="ctr">
              <a:spcAft>
                <a:spcPts val="0"/>
              </a:spcAft>
            </a:pPr>
            <a:r>
              <a:rPr sz="2500" b="0" i="0" u="none">
                <a:solidFill>
                  <a:srgbClr val="FFFFFF"/>
                </a:solidFill>
                <a:latin typeface="Arial"/>
              </a:rPr>
              <a:t>Alan Ma¹, Kevin Menear¹   |   ¹National Laboratory of the Rockies (NLR)   |   DOE SULI Program</a:t>
            </a:r>
          </a:p>
        </p:txBody>
      </p:sp>
      <p:sp>
        <p:nvSpPr>
          <p:cNvPr id="8" name="Rounded Rectangle 7"/>
          <p:cNvSpPr/>
          <p:nvPr/>
        </p:nvSpPr>
        <p:spPr>
          <a:xfrm>
            <a:off x="33147000" y="594360"/>
            <a:ext cx="4572000" cy="2606040"/>
          </a:xfrm>
          <a:prstGeom prst="roundRect">
            <a:avLst>
              <a:gd name="adj" fmla="val 8000"/>
            </a:avLst>
          </a:prstGeom>
          <a:solidFill>
            <a:srgbClr val="0B3A5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21319" y="804672"/>
            <a:ext cx="4023360" cy="1325880"/>
          </a:xfrm>
          <a:prstGeom prst="rect">
            <a:avLst/>
          </a:prstGeom>
          <a:noFill/>
        </p:spPr>
        <p:txBody>
          <a:bodyPr wrap="square" lIns="73152" rIns="73152" tIns="73152" bIns="73152" anchor="ctr">
            <a:spAutoFit/>
          </a:bodyPr>
          <a:lstStyle/>
          <a:p>
            <a:pPr algn="ctr">
              <a:spcAft>
                <a:spcPts val="0"/>
              </a:spcAft>
            </a:pPr>
            <a:r>
              <a:rPr sz="3000" b="1" i="0" u="none">
                <a:solidFill>
                  <a:srgbClr val="FFFFFF"/>
                </a:solidFill>
                <a:latin typeface="Arial"/>
              </a:rPr>
              <a:t>HPC ODA
COMMONS</a:t>
            </a:r>
          </a:p>
        </p:txBody>
      </p:sp>
      <p:sp>
        <p:nvSpPr>
          <p:cNvPr id="10" name="TextBox 9"/>
          <p:cNvSpPr txBox="1"/>
          <p:nvPr/>
        </p:nvSpPr>
        <p:spPr>
          <a:xfrm>
            <a:off x="33467040" y="2221992"/>
            <a:ext cx="3931920" cy="502920"/>
          </a:xfrm>
          <a:prstGeom prst="rect">
            <a:avLst/>
          </a:prstGeom>
          <a:noFill/>
        </p:spPr>
        <p:txBody>
          <a:bodyPr wrap="square" lIns="73152" rIns="73152" tIns="73152" bIns="73152" anchor="ctr">
            <a:spAutoFit/>
          </a:bodyPr>
          <a:lstStyle/>
          <a:p>
            <a:pPr algn="ctr">
              <a:spcAft>
                <a:spcPts val="0"/>
              </a:spcAft>
            </a:pPr>
            <a:r>
              <a:rPr sz="1500" b="1" i="0" u="none">
                <a:solidFill>
                  <a:srgbClr val="F4C154"/>
                </a:solidFill>
                <a:latin typeface="Arial"/>
              </a:rPr>
              <a:t>open • local • reproducible</a:t>
            </a:r>
          </a:p>
        </p:txBody>
      </p:sp>
      <p:sp>
        <p:nvSpPr>
          <p:cNvPr id="11" name="Rounded Rectangle 10"/>
          <p:cNvSpPr/>
          <p:nvPr/>
        </p:nvSpPr>
        <p:spPr>
          <a:xfrm>
            <a:off x="685800" y="5010912"/>
            <a:ext cx="10588752"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4000" b="1" u="sng">
                <a:solidFill>
                  <a:srgbClr val="000000"/>
                </a:solidFill>
                <a:latin typeface="Times New Roman"/>
              </a:rPr>
              <a:t>Introduction</a:t>
            </a:r>
          </a:p>
        </p:txBody>
      </p:sp>
      <p:sp>
        <p:nvSpPr>
          <p:cNvPr id="12" name="TextBox 11"/>
          <p:cNvSpPr txBox="1"/>
          <p:nvPr/>
        </p:nvSpPr>
        <p:spPr>
          <a:xfrm>
            <a:off x="914400" y="6172200"/>
            <a:ext cx="10131552" cy="4663440"/>
          </a:xfrm>
          <a:prstGeom prst="rect">
            <a:avLst/>
          </a:prstGeom>
          <a:noFill/>
        </p:spPr>
        <p:txBody>
          <a:bodyPr wrap="square" lIns="73152" rIns="73152" tIns="73152" bIns="73152">
            <a:spAutoFit/>
          </a:bodyPr>
          <a:lstStyle/>
          <a:p>
            <a:pPr algn="l">
              <a:lnSpc>
                <a:spcPct val="100000"/>
              </a:lnSpc>
              <a:spcAft>
                <a:spcPts val="1000"/>
              </a:spcAft>
            </a:pPr>
            <a:r>
              <a:rPr sz="2800" b="1">
                <a:solidFill>
                  <a:srgbClr val="0070C0"/>
                </a:solidFill>
                <a:latin typeface="Arial"/>
              </a:rPr>
              <a:t>•  </a:t>
            </a:r>
            <a:r>
              <a:rPr sz="2800" b="1" i="0">
                <a:solidFill>
                  <a:srgbClr val="000000"/>
                </a:solidFill>
                <a:latin typeface="Times New Roman"/>
              </a:rPr>
              <a:t>HPC schedulers need reliable runtime estimates</a:t>
            </a:r>
            <a:r>
              <a:rPr sz="2800" b="0" i="0">
                <a:solidFill>
                  <a:srgbClr val="000000"/>
                </a:solidFill>
                <a:latin typeface="Times New Roman"/>
              </a:rPr>
              <a:t> to reduce idle resources and improve queue planning.</a:t>
            </a:r>
          </a:p>
          <a:p>
            <a:pPr algn="l">
              <a:lnSpc>
                <a:spcPct val="100000"/>
              </a:lnSpc>
              <a:spcAft>
                <a:spcPts val="1000"/>
              </a:spcAft>
            </a:pPr>
            <a:r>
              <a:rPr sz="2800" b="1">
                <a:solidFill>
                  <a:srgbClr val="0070C0"/>
                </a:solidFill>
                <a:latin typeface="Arial"/>
              </a:rPr>
              <a:t>•  </a:t>
            </a:r>
            <a:r>
              <a:rPr sz="2800" b="1" i="0">
                <a:solidFill>
                  <a:srgbClr val="000000"/>
                </a:solidFill>
                <a:latin typeface="Times New Roman"/>
              </a:rPr>
              <a:t>Workloads are highly heterogeneous:</a:t>
            </a:r>
            <a:r>
              <a:rPr sz="2800" b="0" i="0">
                <a:solidFill>
                  <a:srgbClr val="000000"/>
                </a:solidFill>
                <a:latin typeface="Times New Roman"/>
              </a:rPr>
              <a:t> on Kestrel, runtimes form a heavy-tailed distribution (see right histogram).</a:t>
            </a:r>
          </a:p>
          <a:p>
            <a:pPr algn="l">
              <a:lnSpc>
                <a:spcPct val="100000"/>
              </a:lnSpc>
              <a:spcAft>
                <a:spcPts val="1000"/>
              </a:spcAft>
            </a:pPr>
            <a:r>
              <a:rPr sz="2800" b="1">
                <a:solidFill>
                  <a:srgbClr val="0070C0"/>
                </a:solidFill>
                <a:latin typeface="Arial"/>
              </a:rPr>
              <a:t>•  </a:t>
            </a:r>
            <a:r>
              <a:rPr sz="2800" b="1" i="0">
                <a:solidFill>
                  <a:srgbClr val="000000"/>
                </a:solidFill>
                <a:latin typeface="Times New Roman"/>
              </a:rPr>
              <a:t>Published results are hard to compare</a:t>
            </a:r>
            <a:r>
              <a:rPr sz="2800" b="0" i="0">
                <a:solidFill>
                  <a:srgbClr val="000000"/>
                </a:solidFill>
                <a:latin typeface="Times New Roman"/>
              </a:rPr>
              <a:t> because sites use different data, feature sets, and temporal splits.</a:t>
            </a:r>
          </a:p>
        </p:txBody>
      </p:sp>
      <p:sp>
        <p:nvSpPr>
          <p:cNvPr id="13" name="TextBox 12"/>
          <p:cNvSpPr txBox="1"/>
          <p:nvPr/>
        </p:nvSpPr>
        <p:spPr>
          <a:xfrm>
            <a:off x="1051560" y="10634472"/>
            <a:ext cx="9857232" cy="512064"/>
          </a:xfrm>
          <a:prstGeom prst="rect">
            <a:avLst/>
          </a:prstGeom>
          <a:noFill/>
        </p:spPr>
        <p:txBody>
          <a:bodyPr wrap="square" lIns="73152" rIns="73152" tIns="73152" bIns="73152" anchor="t">
            <a:spAutoFit/>
          </a:bodyPr>
          <a:lstStyle/>
          <a:p>
            <a:pPr algn="ctr">
              <a:spcAft>
                <a:spcPts val="0"/>
              </a:spcAft>
            </a:pPr>
            <a:r>
              <a:rPr sz="3100" b="1" i="0" u="none">
                <a:solidFill>
                  <a:srgbClr val="000000"/>
                </a:solidFill>
                <a:latin typeface="Times New Roman"/>
              </a:rPr>
              <a:t>HPC ODA Commons Toolkit</a:t>
            </a:r>
          </a:p>
        </p:txBody>
      </p:sp>
      <p:sp>
        <p:nvSpPr>
          <p:cNvPr id="14" name="Rounded Rectangle 13"/>
          <p:cNvSpPr/>
          <p:nvPr/>
        </p:nvSpPr>
        <p:spPr>
          <a:xfrm>
            <a:off x="850392" y="11247120"/>
            <a:ext cx="10259568" cy="4114800"/>
          </a:xfrm>
          <a:prstGeom prst="roundRect">
            <a:avLst>
              <a:gd name="adj" fmla="val 8000"/>
            </a:avLst>
          </a:prstGeom>
          <a:solidFill>
            <a:srgbClr val="E8F3FA"/>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11430000"/>
            <a:ext cx="9765792" cy="3657600"/>
          </a:xfrm>
          <a:prstGeom prst="rect">
            <a:avLst/>
          </a:prstGeom>
          <a:noFill/>
        </p:spPr>
        <p:txBody>
          <a:bodyPr wrap="square" lIns="73152" rIns="73152" tIns="73152" bIns="73152" anchor="t">
            <a:spAutoFit/>
          </a:bodyPr>
          <a:lstStyle/>
          <a:p>
            <a:pPr algn="l">
              <a:spcAft>
                <a:spcPts val="0"/>
              </a:spcAft>
            </a:pPr>
            <a:r>
              <a:rPr sz="2400" b="0" i="0" u="none">
                <a:solidFill>
                  <a:srgbClr val="000000"/>
                </a:solidFill>
                <a:latin typeface="Times New Roman"/>
              </a:rPr>
              <a:t>HPC ODA Commons is an open-source, artifact-driven standard toolkit designed for High Performance Computing Operational Data Analytics. It provides a local-first approach to normalizing SLURM logs, enforcing submission-time feature policies to avoid data leakage, and enabling reproducible benchmark grids.</a:t>
            </a:r>
          </a:p>
        </p:txBody>
      </p:sp>
      <p:sp>
        <p:nvSpPr>
          <p:cNvPr id="16" name="Rounded Rectangle 15"/>
          <p:cNvSpPr/>
          <p:nvPr/>
        </p:nvSpPr>
        <p:spPr>
          <a:xfrm>
            <a:off x="685800" y="16047720"/>
            <a:ext cx="10588752"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4000" b="1" u="sng">
                <a:solidFill>
                  <a:srgbClr val="000000"/>
                </a:solidFill>
                <a:latin typeface="Times New Roman"/>
              </a:rPr>
              <a:t>Methodology &amp; Models</a:t>
            </a:r>
          </a:p>
        </p:txBody>
      </p:sp>
      <p:sp>
        <p:nvSpPr>
          <p:cNvPr id="17" name="TextBox 16"/>
          <p:cNvSpPr txBox="1"/>
          <p:nvPr/>
        </p:nvSpPr>
        <p:spPr>
          <a:xfrm>
            <a:off x="850392" y="17163288"/>
            <a:ext cx="10259568" cy="4572000"/>
          </a:xfrm>
          <a:prstGeom prst="rect">
            <a:avLst/>
          </a:prstGeom>
          <a:noFill/>
        </p:spPr>
        <p:txBody>
          <a:bodyPr wrap="square" lIns="73152" rIns="73152" tIns="73152" bIns="73152">
            <a:spAutoFit/>
          </a:bodyPr>
          <a:lstStyle/>
          <a:p>
            <a:pPr algn="l">
              <a:lnSpc>
                <a:spcPct val="100000"/>
              </a:lnSpc>
              <a:spcAft>
                <a:spcPts val="800"/>
              </a:spcAft>
            </a:pPr>
            <a:r>
              <a:rPr sz="2500" b="1">
                <a:solidFill>
                  <a:srgbClr val="0070C0"/>
                </a:solidFill>
                <a:latin typeface="Arial"/>
              </a:rPr>
              <a:t>•  </a:t>
            </a:r>
            <a:r>
              <a:rPr sz="2500" b="1" i="0">
                <a:solidFill>
                  <a:srgbClr val="000000"/>
                </a:solidFill>
                <a:latin typeface="Times New Roman"/>
              </a:rPr>
              <a:t>1. Normalize</a:t>
            </a:r>
            <a:r>
              <a:rPr sz="2500" b="0" i="0">
                <a:solidFill>
                  <a:srgbClr val="000000"/>
                </a:solidFill>
                <a:latin typeface="Times New Roman"/>
              </a:rPr>
              <a:t> job records to the `oda.job.v0.2.0` schema.</a:t>
            </a:r>
          </a:p>
          <a:p>
            <a:pPr algn="l">
              <a:lnSpc>
                <a:spcPct val="100000"/>
              </a:lnSpc>
              <a:spcAft>
                <a:spcPts val="800"/>
              </a:spcAft>
            </a:pPr>
            <a:r>
              <a:rPr sz="2500" b="1">
                <a:solidFill>
                  <a:srgbClr val="0070C0"/>
                </a:solidFill>
                <a:latin typeface="Arial"/>
              </a:rPr>
              <a:t>•  </a:t>
            </a:r>
            <a:r>
              <a:rPr sz="2500" b="1" i="0">
                <a:solidFill>
                  <a:srgbClr val="000000"/>
                </a:solidFill>
                <a:latin typeface="Times New Roman"/>
              </a:rPr>
              <a:t>2. Restrict features</a:t>
            </a:r>
            <a:r>
              <a:rPr sz="2500" b="0" i="0">
                <a:solidFill>
                  <a:srgbClr val="000000"/>
                </a:solidFill>
                <a:latin typeface="Times New Roman"/>
              </a:rPr>
              <a:t> to information known when the job is submitted.</a:t>
            </a:r>
          </a:p>
          <a:p>
            <a:pPr algn="l">
              <a:lnSpc>
                <a:spcPct val="100000"/>
              </a:lnSpc>
              <a:spcAft>
                <a:spcPts val="800"/>
              </a:spcAft>
            </a:pPr>
            <a:r>
              <a:rPr sz="2500" b="1">
                <a:solidFill>
                  <a:srgbClr val="0070C0"/>
                </a:solidFill>
                <a:latin typeface="Arial"/>
              </a:rPr>
              <a:t>•  </a:t>
            </a:r>
            <a:r>
              <a:rPr sz="2500" b="1" i="0">
                <a:solidFill>
                  <a:srgbClr val="000000"/>
                </a:solidFill>
                <a:latin typeface="Times New Roman"/>
              </a:rPr>
              <a:t>3. Route inside each window</a:t>
            </a:r>
            <a:r>
              <a:rPr sz="2500" b="0" i="0">
                <a:solidFill>
                  <a:srgbClr val="000000"/>
                </a:solidFill>
                <a:latin typeface="Times New Roman"/>
              </a:rPr>
              <a:t> to data-derived wallclock/user experts.</a:t>
            </a:r>
          </a:p>
        </p:txBody>
      </p:sp>
      <p:sp>
        <p:nvSpPr>
          <p:cNvPr id="18" name="TextBox 17"/>
          <p:cNvSpPr txBox="1"/>
          <p:nvPr/>
        </p:nvSpPr>
        <p:spPr>
          <a:xfrm>
            <a:off x="1051560" y="22128480"/>
            <a:ext cx="9857232" cy="457200"/>
          </a:xfrm>
          <a:prstGeom prst="rect">
            <a:avLst/>
          </a:prstGeom>
          <a:noFill/>
        </p:spPr>
        <p:txBody>
          <a:bodyPr wrap="square" lIns="73152" rIns="73152" tIns="73152" bIns="73152" anchor="t">
            <a:spAutoFit/>
          </a:bodyPr>
          <a:lstStyle/>
          <a:p>
            <a:pPr algn="l">
              <a:spcAft>
                <a:spcPts val="0"/>
              </a:spcAft>
            </a:pPr>
            <a:r>
              <a:rPr sz="2600" b="1" i="0" u="none">
                <a:solidFill>
                  <a:srgbClr val="000000"/>
                </a:solidFill>
                <a:latin typeface="Times New Roman"/>
              </a:rPr>
              <a:t>Four Models Evaluated:</a:t>
            </a:r>
          </a:p>
        </p:txBody>
      </p:sp>
      <p:sp>
        <p:nvSpPr>
          <p:cNvPr id="19" name="TextBox 18"/>
          <p:cNvSpPr txBox="1"/>
          <p:nvPr/>
        </p:nvSpPr>
        <p:spPr>
          <a:xfrm>
            <a:off x="850392" y="22860000"/>
            <a:ext cx="10259568" cy="5486400"/>
          </a:xfrm>
          <a:prstGeom prst="rect">
            <a:avLst/>
          </a:prstGeom>
          <a:noFill/>
        </p:spPr>
        <p:txBody>
          <a:bodyPr wrap="square" lIns="73152" rIns="73152" tIns="73152" bIns="73152">
            <a:spAutoFit/>
          </a:bodyPr>
          <a:lstStyle/>
          <a:p>
            <a:pPr algn="l">
              <a:lnSpc>
                <a:spcPct val="100000"/>
              </a:lnSpc>
              <a:spcAft>
                <a:spcPts val="600"/>
              </a:spcAft>
            </a:pPr>
            <a:r>
              <a:rPr sz="2300" b="1">
                <a:solidFill>
                  <a:srgbClr val="0070C0"/>
                </a:solidFill>
                <a:latin typeface="Arial"/>
              </a:rPr>
              <a:t>•  </a:t>
            </a:r>
            <a:r>
              <a:rPr sz="2300" b="1" i="0">
                <a:solidFill>
                  <a:srgbClr val="000000"/>
                </a:solidFill>
                <a:latin typeface="Times New Roman"/>
              </a:rPr>
              <a:t>Flat XGBoost:</a:t>
            </a:r>
            <a:r>
              <a:rPr sz="2300" b="0" i="0">
                <a:solidFill>
                  <a:srgbClr val="000000"/>
                </a:solidFill>
                <a:latin typeface="Times New Roman"/>
              </a:rPr>
              <a:t> Baseline gradient boosting over all data.</a:t>
            </a:r>
          </a:p>
          <a:p>
            <a:pPr algn="l">
              <a:lnSpc>
                <a:spcPct val="100000"/>
              </a:lnSpc>
              <a:spcAft>
                <a:spcPts val="600"/>
              </a:spcAft>
            </a:pPr>
            <a:r>
              <a:rPr sz="2300" b="1">
                <a:solidFill>
                  <a:srgbClr val="0070C0"/>
                </a:solidFill>
                <a:latin typeface="Arial"/>
              </a:rPr>
              <a:t>•  </a:t>
            </a:r>
            <a:r>
              <a:rPr sz="2300" b="1" i="0">
                <a:solidFill>
                  <a:srgbClr val="000000"/>
                </a:solidFill>
                <a:latin typeface="Times New Roman"/>
              </a:rPr>
              <a:t>MoE XGBoost:</a:t>
            </a:r>
            <a:r>
              <a:rPr sz="2300" b="0" i="0">
                <a:solidFill>
                  <a:srgbClr val="000000"/>
                </a:solidFill>
                <a:latin typeface="Times New Roman"/>
              </a:rPr>
              <a:t> Mixture of Experts routing by user &amp; wallclock.</a:t>
            </a:r>
          </a:p>
          <a:p>
            <a:pPr algn="l">
              <a:lnSpc>
                <a:spcPct val="100000"/>
              </a:lnSpc>
              <a:spcAft>
                <a:spcPts val="600"/>
              </a:spcAft>
            </a:pPr>
            <a:r>
              <a:rPr sz="2300" b="1">
                <a:solidFill>
                  <a:srgbClr val="0070C0"/>
                </a:solidFill>
                <a:latin typeface="Arial"/>
              </a:rPr>
              <a:t>•  </a:t>
            </a:r>
            <a:r>
              <a:rPr sz="2300" b="1" i="0">
                <a:solidFill>
                  <a:srgbClr val="000000"/>
                </a:solidFill>
                <a:latin typeface="Times New Roman"/>
              </a:rPr>
              <a:t>LightGBM:</a:t>
            </a:r>
            <a:r>
              <a:rPr sz="2300" b="0" i="0">
                <a:solidFill>
                  <a:srgbClr val="000000"/>
                </a:solidFill>
                <a:latin typeface="Times New Roman"/>
              </a:rPr>
              <a:t> High-efficiency, fast alternative for comparison.</a:t>
            </a:r>
          </a:p>
          <a:p>
            <a:pPr algn="l">
              <a:lnSpc>
                <a:spcPct val="100000"/>
              </a:lnSpc>
              <a:spcAft>
                <a:spcPts val="600"/>
              </a:spcAft>
            </a:pPr>
            <a:r>
              <a:rPr sz="2300" b="1">
                <a:solidFill>
                  <a:srgbClr val="0070C0"/>
                </a:solidFill>
                <a:latin typeface="Arial"/>
              </a:rPr>
              <a:t>•  </a:t>
            </a:r>
            <a:r>
              <a:rPr sz="2300" b="1" i="0">
                <a:solidFill>
                  <a:srgbClr val="000000"/>
                </a:solidFill>
                <a:latin typeface="Times New Roman"/>
              </a:rPr>
              <a:t>Random Forest:</a:t>
            </a:r>
            <a:r>
              <a:rPr sz="2300" b="0" i="0">
                <a:solidFill>
                  <a:srgbClr val="000000"/>
                </a:solidFill>
                <a:latin typeface="Times New Roman"/>
              </a:rPr>
              <a:t> Traditional ensemble, stable but often slower.</a:t>
            </a:r>
          </a:p>
        </p:txBody>
      </p:sp>
      <p:sp>
        <p:nvSpPr>
          <p:cNvPr id="20" name="Rounded Rectangle 19"/>
          <p:cNvSpPr/>
          <p:nvPr/>
        </p:nvSpPr>
        <p:spPr>
          <a:xfrm>
            <a:off x="12938760" y="5010912"/>
            <a:ext cx="12207240"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4000" b="1" u="sng">
                <a:solidFill>
                  <a:srgbClr val="000000"/>
                </a:solidFill>
                <a:latin typeface="Times New Roman"/>
              </a:rPr>
              <a:t>Results</a:t>
            </a:r>
          </a:p>
        </p:txBody>
      </p:sp>
      <p:pic>
        <p:nvPicPr>
          <p:cNvPr id="21" name="Picture 20" descr="suli_runtime_hist.png"/>
          <p:cNvPicPr>
            <a:picLocks noChangeAspect="1"/>
          </p:cNvPicPr>
          <p:nvPr/>
        </p:nvPicPr>
        <p:blipFill>
          <a:blip r:embed="rId23"/>
          <a:stretch>
            <a:fillRect/>
          </a:stretch>
        </p:blipFill>
        <p:spPr>
          <a:xfrm>
            <a:off x="13167360" y="6144768"/>
            <a:ext cx="11750040" cy="4709160"/>
          </a:xfrm>
          <a:prstGeom prst="rect">
            <a:avLst/>
          </a:prstGeom>
        </p:spPr>
      </p:pic>
      <p:pic>
        <p:nvPicPr>
          <p:cNvPr id="22" name="Picture 21" descr="suli_leakage.png"/>
          <p:cNvPicPr>
            <a:picLocks noChangeAspect="1"/>
          </p:cNvPicPr>
          <p:nvPr/>
        </p:nvPicPr>
        <p:blipFill>
          <a:blip r:embed="rId24"/>
          <a:stretch>
            <a:fillRect/>
          </a:stretch>
        </p:blipFill>
        <p:spPr>
          <a:xfrm>
            <a:off x="13167360" y="11045952"/>
            <a:ext cx="11750040" cy="5074920"/>
          </a:xfrm>
          <a:prstGeom prst="rect">
            <a:avLst/>
          </a:prstGeom>
        </p:spPr>
      </p:pic>
      <p:sp>
        <p:nvSpPr>
          <p:cNvPr id="23" name="TextBox 22"/>
          <p:cNvSpPr txBox="1"/>
          <p:nvPr/>
        </p:nvSpPr>
        <p:spPr>
          <a:xfrm>
            <a:off x="13395960" y="15837408"/>
            <a:ext cx="11292840" cy="502920"/>
          </a:xfrm>
          <a:prstGeom prst="rect">
            <a:avLst/>
          </a:prstGeom>
          <a:noFill/>
        </p:spPr>
        <p:txBody>
          <a:bodyPr wrap="square" lIns="73152" rIns="73152" tIns="73152" bIns="73152" anchor="t">
            <a:spAutoFit/>
          </a:bodyPr>
          <a:lstStyle/>
          <a:p>
            <a:pPr algn="ctr">
              <a:spcAft>
                <a:spcPts val="0"/>
              </a:spcAft>
            </a:pPr>
            <a:r>
              <a:rPr sz="2100" b="1" i="0" u="none">
                <a:solidFill>
                  <a:srgbClr val="C03A2B"/>
                </a:solidFill>
                <a:latin typeface="Arial"/>
              </a:rPr>
              <a:t>Leakage made the old absolute MAEs look much better than a deployable model.</a:t>
            </a:r>
          </a:p>
        </p:txBody>
      </p:sp>
      <p:pic>
        <p:nvPicPr>
          <p:cNvPr id="24" name="Picture 23" descr="suli_moe_results.png"/>
          <p:cNvPicPr>
            <a:picLocks noChangeAspect="1"/>
          </p:cNvPicPr>
          <p:nvPr/>
        </p:nvPicPr>
        <p:blipFill>
          <a:blip r:embed="rId25"/>
          <a:stretch>
            <a:fillRect/>
          </a:stretch>
        </p:blipFill>
        <p:spPr>
          <a:xfrm>
            <a:off x="13121640" y="16687800"/>
            <a:ext cx="11841480" cy="6035040"/>
          </a:xfrm>
          <a:prstGeom prst="rect">
            <a:avLst/>
          </a:prstGeom>
        </p:spPr>
      </p:pic>
      <p:sp>
        <p:nvSpPr>
          <p:cNvPr id="25" name="Rounded Rectangle 24"/>
          <p:cNvSpPr/>
          <p:nvPr/>
        </p:nvSpPr>
        <p:spPr>
          <a:xfrm>
            <a:off x="13350240" y="22905720"/>
            <a:ext cx="11384280" cy="3730752"/>
          </a:xfrm>
          <a:prstGeom prst="roundRect">
            <a:avLst>
              <a:gd name="adj" fmla="val 8000"/>
            </a:avLst>
          </a:prstGeom>
          <a:solidFill>
            <a:srgbClr val="F4F7FA"/>
          </a:solidFill>
          <a:ln>
            <a:solidFill>
              <a:srgbClr val="2F7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78840" y="23134320"/>
            <a:ext cx="10927080" cy="658368"/>
          </a:xfrm>
          <a:prstGeom prst="rect">
            <a:avLst/>
          </a:prstGeom>
          <a:noFill/>
        </p:spPr>
        <p:txBody>
          <a:bodyPr wrap="square" lIns="73152" rIns="73152" tIns="73152" bIns="73152" anchor="t">
            <a:spAutoFit/>
          </a:bodyPr>
          <a:lstStyle/>
          <a:p>
            <a:pPr algn="ctr">
              <a:spcAft>
                <a:spcPts val="0"/>
              </a:spcAft>
            </a:pPr>
            <a:r>
              <a:rPr sz="2900" b="1" i="0" u="none">
                <a:solidFill>
                  <a:srgbClr val="0B3A5B"/>
                </a:solidFill>
                <a:latin typeface="Times New Roman"/>
              </a:rPr>
              <a:t>Corrected 8-Configuration Ablation</a:t>
            </a:r>
          </a:p>
        </p:txBody>
      </p:sp>
      <p:sp>
        <p:nvSpPr>
          <p:cNvPr id="27" name="TextBox 26"/>
          <p:cNvSpPr txBox="1"/>
          <p:nvPr/>
        </p:nvSpPr>
        <p:spPr>
          <a:xfrm>
            <a:off x="13651992" y="23911560"/>
            <a:ext cx="10780776" cy="2331720"/>
          </a:xfrm>
          <a:prstGeom prst="rect">
            <a:avLst/>
          </a:prstGeom>
          <a:noFill/>
        </p:spPr>
        <p:txBody>
          <a:bodyPr wrap="square" lIns="73152" rIns="73152" tIns="73152" bIns="73152" anchor="ctr">
            <a:spAutoFit/>
          </a:bodyPr>
          <a:lstStyle/>
          <a:p>
            <a:pPr algn="ctr">
              <a:spcAft>
                <a:spcPts val="0"/>
              </a:spcAft>
            </a:pPr>
            <a:r>
              <a:rPr sz="2500" b="0" i="0" u="none">
                <a:solidFill>
                  <a:srgbClr val="000000"/>
                </a:solidFill>
                <a:latin typeface="Times New Roman"/>
              </a:rPr>
              <a:t>A checkpointed experiment now isolates user routing, wallclock routing, and time decay on the exact same Kestrel jobs using the current feature allowlist. The script hashes split rows and true targets and refuses to compare mismatched populations.</a:t>
            </a:r>
          </a:p>
        </p:txBody>
      </p:sp>
      <p:sp>
        <p:nvSpPr>
          <p:cNvPr id="28" name="Rounded Rectangle 27"/>
          <p:cNvSpPr/>
          <p:nvPr/>
        </p:nvSpPr>
        <p:spPr>
          <a:xfrm>
            <a:off x="26929080" y="5010912"/>
            <a:ext cx="10652760"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3600" b="1" u="sng">
                <a:solidFill>
                  <a:srgbClr val="000000"/>
                </a:solidFill>
                <a:latin typeface="Times New Roman"/>
              </a:rPr>
              <a:t>Discussion and Conclusions</a:t>
            </a:r>
          </a:p>
        </p:txBody>
      </p:sp>
      <p:sp>
        <p:nvSpPr>
          <p:cNvPr id="29" name="TextBox 28"/>
          <p:cNvSpPr txBox="1"/>
          <p:nvPr/>
        </p:nvSpPr>
        <p:spPr>
          <a:xfrm>
            <a:off x="27038808" y="6199632"/>
            <a:ext cx="10433304" cy="7178040"/>
          </a:xfrm>
          <a:prstGeom prst="rect">
            <a:avLst/>
          </a:prstGeom>
          <a:noFill/>
        </p:spPr>
        <p:txBody>
          <a:bodyPr wrap="square" lIns="73152" rIns="73152" tIns="73152" bIns="73152">
            <a:spAutoFit/>
          </a:bodyPr>
          <a:lstStyle/>
          <a:p>
            <a:pPr algn="l">
              <a:lnSpc>
                <a:spcPct val="100000"/>
              </a:lnSpc>
              <a:spcAft>
                <a:spcPts val="800"/>
              </a:spcAft>
            </a:pPr>
            <a:r>
              <a:rPr sz="2600" b="1">
                <a:solidFill>
                  <a:srgbClr val="0070C0"/>
                </a:solidFill>
                <a:latin typeface="Arial"/>
              </a:rPr>
              <a:t>•  </a:t>
            </a:r>
            <a:r>
              <a:rPr sz="2600" b="1" i="0">
                <a:solidFill>
                  <a:srgbClr val="000000"/>
                </a:solidFill>
                <a:latin typeface="Times New Roman"/>
              </a:rPr>
              <a:t>Benchmark integrity was the largest finding.</a:t>
            </a:r>
            <a:r>
              <a:rPr sz="2600" b="0" i="0">
                <a:solidFill>
                  <a:srgbClr val="000000"/>
                </a:solidFill>
                <a:latin typeface="Times New Roman"/>
              </a:rPr>
              <a:t> Feature leakage and inconsistent test populations changed conclusions more than small hyperparameter differences.</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Wallclock requests encode workload class.</a:t>
            </a:r>
            <a:r>
              <a:rPr sz="2600" b="0" i="0">
                <a:solidFill>
                  <a:srgbClr val="000000"/>
                </a:solidFill>
                <a:latin typeface="Times New Roman"/>
              </a:rPr>
              <a:t> Partition-limit clusters identify distinct populations, but XGBoost already captures some of this signal.</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User routing is not universally beneficial.</a:t>
            </a:r>
            <a:r>
              <a:rPr sz="2600" b="0" i="0">
                <a:solidFill>
                  <a:srgbClr val="000000"/>
                </a:solidFill>
                <a:latin typeface="Times New Roman"/>
              </a:rPr>
              <a:t> It can reduce typical-job error while worsening overall MAE or RMSE.</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No single model wins everywhere.</a:t>
            </a:r>
            <a:r>
              <a:rPr sz="2600" b="0" i="0">
                <a:solidFill>
                  <a:srgbClr val="000000"/>
                </a:solidFill>
                <a:latin typeface="Times New Roman"/>
              </a:rPr>
              <a:t> Site workload structure determines whether extra routing complexity pays off.</a:t>
            </a:r>
          </a:p>
        </p:txBody>
      </p:sp>
      <p:sp>
        <p:nvSpPr>
          <p:cNvPr id="30" name="Rounded Rectangle 29"/>
          <p:cNvSpPr/>
          <p:nvPr/>
        </p:nvSpPr>
        <p:spPr>
          <a:xfrm>
            <a:off x="26929080" y="13880592"/>
            <a:ext cx="10652760"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4000" b="1" u="sng">
                <a:solidFill>
                  <a:srgbClr val="000000"/>
                </a:solidFill>
                <a:latin typeface="Times New Roman"/>
              </a:rPr>
              <a:t>Contributions</a:t>
            </a:r>
          </a:p>
        </p:txBody>
      </p:sp>
      <p:sp>
        <p:nvSpPr>
          <p:cNvPr id="31" name="TextBox 30"/>
          <p:cNvSpPr txBox="1"/>
          <p:nvPr/>
        </p:nvSpPr>
        <p:spPr>
          <a:xfrm>
            <a:off x="27038808" y="15014448"/>
            <a:ext cx="10433304" cy="6903720"/>
          </a:xfrm>
          <a:prstGeom prst="rect">
            <a:avLst/>
          </a:prstGeom>
          <a:noFill/>
        </p:spPr>
        <p:txBody>
          <a:bodyPr wrap="square" lIns="73152" rIns="73152" tIns="73152" bIns="73152">
            <a:spAutoFit/>
          </a:bodyPr>
          <a:lstStyle/>
          <a:p>
            <a:pPr algn="l">
              <a:lnSpc>
                <a:spcPct val="100000"/>
              </a:lnSpc>
              <a:spcAft>
                <a:spcPts val="800"/>
              </a:spcAft>
            </a:pPr>
            <a:r>
              <a:rPr sz="2600" b="1">
                <a:solidFill>
                  <a:srgbClr val="0070C0"/>
                </a:solidFill>
                <a:latin typeface="Arial"/>
              </a:rPr>
              <a:t>•  </a:t>
            </a:r>
            <a:r>
              <a:rPr sz="2600" b="1" i="0">
                <a:solidFill>
                  <a:srgbClr val="000000"/>
                </a:solidFill>
                <a:latin typeface="Times New Roman"/>
              </a:rPr>
              <a:t>Dataset audit:</a:t>
            </a:r>
            <a:r>
              <a:rPr sz="2600" b="0" i="0">
                <a:solidFill>
                  <a:srgbClr val="000000"/>
                </a:solidFill>
                <a:latin typeface="Times New Roman"/>
              </a:rPr>
              <a:t> characterized 11 public HPC traces for quality, coverage, and benchmark readiness.</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Toolkit fixes:</a:t>
            </a:r>
            <a:r>
              <a:rPr sz="2600" b="0" i="0">
                <a:solidFill>
                  <a:srgbClr val="000000"/>
                </a:solidFill>
                <a:latin typeface="Times New Roman"/>
              </a:rPr>
              <a:t> identified parser, sentinel, and post-hoc feature leakage issues; three fixes merged.</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Model development:</a:t>
            </a:r>
            <a:r>
              <a:rPr sz="2600" b="0" i="0">
                <a:solidFill>
                  <a:srgbClr val="000000"/>
                </a:solidFill>
                <a:latin typeface="Times New Roman"/>
              </a:rPr>
              <a:t> evaluated four distinct models and contributed time-decay weighting and production MoE XGBoost.</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Evaluation safeguards:</a:t>
            </a:r>
            <a:r>
              <a:rPr sz="2600" b="0" i="0">
                <a:solidFill>
                  <a:srgbClr val="000000"/>
                </a:solidFill>
                <a:latin typeface="Times New Roman"/>
              </a:rPr>
              <a:t> shared rolling grids, data-derived bins, fallback coverage, and exact same-row checks.</a:t>
            </a:r>
          </a:p>
        </p:txBody>
      </p:sp>
      <p:sp>
        <p:nvSpPr>
          <p:cNvPr id="32" name="Rounded Rectangle 31"/>
          <p:cNvSpPr/>
          <p:nvPr/>
        </p:nvSpPr>
        <p:spPr>
          <a:xfrm>
            <a:off x="26929080" y="22421088"/>
            <a:ext cx="10652760"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4000" b="1" u="sng">
                <a:solidFill>
                  <a:srgbClr val="000000"/>
                </a:solidFill>
                <a:latin typeface="Times New Roman"/>
              </a:rPr>
              <a:t>Future Work</a:t>
            </a:r>
          </a:p>
        </p:txBody>
      </p:sp>
      <p:sp>
        <p:nvSpPr>
          <p:cNvPr id="33" name="TextBox 32"/>
          <p:cNvSpPr txBox="1"/>
          <p:nvPr/>
        </p:nvSpPr>
        <p:spPr>
          <a:xfrm>
            <a:off x="27038808" y="23545800"/>
            <a:ext cx="10433304" cy="5897880"/>
          </a:xfrm>
          <a:prstGeom prst="rect">
            <a:avLst/>
          </a:prstGeom>
          <a:noFill/>
        </p:spPr>
        <p:txBody>
          <a:bodyPr wrap="square" lIns="73152" rIns="73152" tIns="73152" bIns="73152">
            <a:spAutoFit/>
          </a:bodyPr>
          <a:lstStyle/>
          <a:p>
            <a:pPr algn="l">
              <a:lnSpc>
                <a:spcPct val="100000"/>
              </a:lnSpc>
              <a:spcAft>
                <a:spcPts val="800"/>
              </a:spcAft>
            </a:pPr>
            <a:r>
              <a:rPr sz="2600" b="1">
                <a:solidFill>
                  <a:srgbClr val="0070C0"/>
                </a:solidFill>
                <a:latin typeface="Arial"/>
              </a:rPr>
              <a:t>•  </a:t>
            </a:r>
            <a:r>
              <a:rPr sz="2600" b="1" i="0">
                <a:solidFill>
                  <a:srgbClr val="000000"/>
                </a:solidFill>
                <a:latin typeface="Times New Roman"/>
              </a:rPr>
              <a:t>Energy and power prediction:</a:t>
            </a:r>
            <a:r>
              <a:rPr sz="2600" b="0" i="0">
                <a:solidFill>
                  <a:srgbClr val="000000"/>
                </a:solidFill>
                <a:latin typeface="Times New Roman"/>
              </a:rPr>
              <a:t> compare direct energy, average power, and runtime–power cascades on Fugaku and Kestrel.</a:t>
            </a:r>
          </a:p>
          <a:p>
            <a:pPr algn="l">
              <a:lnSpc>
                <a:spcPct val="100000"/>
              </a:lnSpc>
              <a:spcAft>
                <a:spcPts val="800"/>
              </a:spcAft>
            </a:pPr>
            <a:r>
              <a:rPr sz="2600" b="1">
                <a:solidFill>
                  <a:srgbClr val="0070C0"/>
                </a:solidFill>
                <a:latin typeface="Arial"/>
              </a:rPr>
              <a:t>•  </a:t>
            </a:r>
            <a:r>
              <a:rPr sz="2600" b="1" i="0">
                <a:solidFill>
                  <a:srgbClr val="000000"/>
                </a:solidFill>
                <a:latin typeface="Times New Roman"/>
              </a:rPr>
              <a:t>Cross-system validation:</a:t>
            </a:r>
            <a:r>
              <a:rPr sz="2600" b="0" i="0">
                <a:solidFill>
                  <a:srgbClr val="000000"/>
                </a:solidFill>
                <a:latin typeface="Times New Roman"/>
              </a:rPr>
              <a:t> run the benchmark matrix to identify when routing, decay, or log targets help.</a:t>
            </a:r>
          </a:p>
        </p:txBody>
      </p:sp>
      <p:sp>
        <p:nvSpPr>
          <p:cNvPr id="34" name="Rounded Rectangle 33"/>
          <p:cNvSpPr/>
          <p:nvPr/>
        </p:nvSpPr>
        <p:spPr>
          <a:xfrm>
            <a:off x="26929080" y="29827727"/>
            <a:ext cx="10652760" cy="896112"/>
          </a:xfrm>
          <a:prstGeom prst="roundRect">
            <a:avLst>
              <a:gd name="adj" fmla="val 8000"/>
            </a:avLst>
          </a:prstGeom>
          <a:solidFill>
            <a:srgbClr val="E7E6E6"/>
          </a:solidFill>
          <a:ln>
            <a:solidFill>
              <a:srgbClr val="4AA3DF"/>
            </a:solidFill>
          </a:ln>
        </p:spPr>
        <p:style>
          <a:lnRef idx="1">
            <a:schemeClr val="accent1"/>
          </a:lnRef>
          <a:fillRef idx="3">
            <a:schemeClr val="accent1"/>
          </a:fillRef>
          <a:effectRef idx="2">
            <a:schemeClr val="accent1"/>
          </a:effectRef>
          <a:fontRef idx="minor">
            <a:schemeClr val="lt1"/>
          </a:fontRef>
        </p:style>
        <p:txBody>
          <a:bodyPr rtlCol="0" anchor="ctr" lIns="73152" rIns="73152" tIns="9144" bIns="9144"/>
          <a:lstStyle/>
          <a:p>
            <a:pPr algn="ctr"/>
            <a:r>
              <a:rPr sz="3700" b="1" u="sng">
                <a:solidFill>
                  <a:srgbClr val="000000"/>
                </a:solidFill>
                <a:latin typeface="Times New Roman"/>
              </a:rPr>
              <a:t>Acknowledgements</a:t>
            </a:r>
          </a:p>
        </p:txBody>
      </p:sp>
      <p:sp>
        <p:nvSpPr>
          <p:cNvPr id="35" name="TextBox 34"/>
          <p:cNvSpPr txBox="1"/>
          <p:nvPr/>
        </p:nvSpPr>
        <p:spPr>
          <a:xfrm>
            <a:off x="27276552" y="30934152"/>
            <a:ext cx="9957816" cy="2432304"/>
          </a:xfrm>
          <a:prstGeom prst="rect">
            <a:avLst/>
          </a:prstGeom>
          <a:noFill/>
        </p:spPr>
        <p:txBody>
          <a:bodyPr wrap="square" lIns="73152" rIns="73152" tIns="73152" bIns="73152" anchor="ctr">
            <a:spAutoFit/>
          </a:bodyPr>
          <a:lstStyle/>
          <a:p>
            <a:pPr algn="ctr">
              <a:spcAft>
                <a:spcPts val="0"/>
              </a:spcAft>
            </a:pPr>
            <a:r>
              <a:rPr sz="2400" b="0" i="0" u="none">
                <a:solidFill>
                  <a:srgbClr val="000000"/>
                </a:solidFill>
                <a:latin typeface="Times New Roman"/>
              </a:rPr>
              <a:t>Special thanks to Kevin Menear, the HPC ODA Commons contributors, and the NLR Computational Science Center. This research was supported by the U.S. Department of Energy Office of Science Science Undergraduate Laboratory Internships (SULI) program.</a:t>
            </a:r>
          </a:p>
        </p:txBody>
      </p:sp>
      <p:sp>
        <p:nvSpPr>
          <p:cNvPr id="36" name="Rectangle 35"/>
          <p:cNvSpPr/>
          <p:nvPr/>
        </p:nvSpPr>
        <p:spPr>
          <a:xfrm>
            <a:off x="530352" y="36347400"/>
            <a:ext cx="37353240" cy="4572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36594288"/>
            <a:ext cx="36804600" cy="1325880"/>
          </a:xfrm>
          <a:prstGeom prst="rect">
            <a:avLst/>
          </a:prstGeom>
          <a:noFill/>
        </p:spPr>
        <p:txBody>
          <a:bodyPr wrap="square" lIns="73152" rIns="73152" tIns="73152" bIns="73152" anchor="ctr">
            <a:spAutoFit/>
          </a:bodyPr>
          <a:lstStyle/>
          <a:p>
            <a:pPr algn="l">
              <a:spcAft>
                <a:spcPts val="0"/>
              </a:spcAft>
            </a:pPr>
            <a:r>
              <a:rPr sz="1500" b="0" i="1" u="none">
                <a:solidFill>
                  <a:srgbClr val="454545"/>
                </a:solidFill>
                <a:latin typeface="Arial"/>
              </a:rPr>
              <a:t>This research was supported by the U.S. Department of Energy Office of Science, Office of Workforce Development for Teachers and Scientists (WDTS) under the Science Undergraduate Laboratory Internships (SULI) program. The views expressed do not necessarily represent the views of the DOE or the U.S. Government.</a:t>
            </a:r>
          </a:p>
        </p:txBody>
      </p:sp>
    </p:spTree>
  </p:cSld>
  <p:clrMapOvr>
    <a:masterClrMapping/>
  </p:clrMapOvr>
</p:sld>
</file>

<file path=ppt/theme/theme1.xml><?xml version="1.0" encoding="utf-8"?>
<a:theme xmlns:a="http://schemas.openxmlformats.org/drawingml/2006/main" name="Blank Presentation">
  <a:themeElements>
    <a:clrScheme name="Custom 3">
      <a:dk1>
        <a:srgbClr val="0079C1"/>
      </a:dk1>
      <a:lt1>
        <a:srgbClr val="FFFFFF"/>
      </a:lt1>
      <a:dk2>
        <a:srgbClr val="6A737B"/>
      </a:dk2>
      <a:lt2>
        <a:srgbClr val="FFFFFF"/>
      </a:lt2>
      <a:accent1>
        <a:srgbClr val="F6A01A"/>
      </a:accent1>
      <a:accent2>
        <a:srgbClr val="FFC425"/>
      </a:accent2>
      <a:accent3>
        <a:srgbClr val="00A4E4"/>
      </a:accent3>
      <a:accent4>
        <a:srgbClr val="5E9732"/>
      </a:accent4>
      <a:accent5>
        <a:srgbClr val="8DC63F"/>
      </a:accent5>
      <a:accent6>
        <a:srgbClr val="000000"/>
      </a:accent6>
      <a:hlink>
        <a:srgbClr val="00A4E4"/>
      </a:hlink>
      <a:folHlink>
        <a:srgbClr val="F6A01A"/>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5965d95-ecc0-4720-b759-1f33c42ed7da}" enabled="1" method="Privileged" siteId="{a0f29d7e-28cd-4f54-8442-7885aee7c080}" removed="0"/>
</clbl:labelList>
</file>

<file path=docProps/app.xml><?xml version="1.0" encoding="utf-8"?>
<Properties xmlns="http://schemas.openxmlformats.org/officeDocument/2006/extended-properties" xmlns:vt="http://schemas.openxmlformats.org/officeDocument/2006/docPropsVTypes">
  <TotalTime>0</TotalTime>
  <Words>673</Words>
  <Application>Microsoft Macintosh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Helvetica</vt:lpstr>
      <vt:lpstr>Times New Roman</vt:lpstr>
      <vt:lpstr>Wingdings</vt:lpstr>
      <vt:lpstr>Blank Presentation</vt:lpstr>
      <vt:lpstr>PowerPoint Presentation</vt:lpstr>
    </vt:vector>
  </TitlesOfParts>
  <Company>Bill Gillies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NREL 42x42 Poster Template</dc:title>
  <dc:subject>Use this template for conferences, etc.</dc:subject>
  <dc:creator>NREL Communications Office</dc:creator>
  <cp:lastModifiedBy>Menear, Kevin</cp:lastModifiedBy>
  <cp:revision>4</cp:revision>
  <cp:lastPrinted>2011-01-06T23:25:15Z</cp:lastPrinted>
  <dcterms:created xsi:type="dcterms:W3CDTF">2009-08-19T15:15:49Z</dcterms:created>
  <dcterms:modified xsi:type="dcterms:W3CDTF">2026-08-14T03:05:58Z</dcterms:modified>
</cp:coreProperties>
</file>